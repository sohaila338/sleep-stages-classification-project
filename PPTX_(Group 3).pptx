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8288000" cy="10287000"/>
  <p:notesSz cx="6858000" cy="9144000"/>
  <p:embeddedFontLst>
    <p:embeddedFont>
      <p:font typeface="Amaranth Bold" panose="020B0604020202020204" charset="0"/>
      <p:regular r:id="rId35"/>
    </p:embeddedFont>
    <p:embeddedFont>
      <p:font typeface="Canva Sans" panose="020B0604020202020204" charset="0"/>
      <p:regular r:id="rId36"/>
    </p:embeddedFont>
    <p:embeddedFont>
      <p:font typeface="Canva Sans Bold" panose="020B0604020202020204" charset="0"/>
      <p:regular r:id="rId37"/>
    </p:embeddedFont>
    <p:embeddedFont>
      <p:font typeface="Jet" panose="020B0604020202020204" charset="-78"/>
      <p:regular r:id="rId38"/>
    </p:embeddedFont>
    <p:embeddedFont>
      <p:font typeface="Lilita One" panose="020B0604020202020204" charset="0"/>
      <p:regular r:id="rId39"/>
    </p:embeddedFont>
    <p:embeddedFont>
      <p:font typeface="Montserrat Ultra-Bold" panose="020B0604020202020204" charset="0"/>
      <p:regular r:id="rId40"/>
    </p:embeddedFont>
    <p:embeddedFont>
      <p:font typeface="Tarif Bold" panose="020B0604020202020204" charset="-78"/>
      <p:regular r:id="rId41"/>
    </p:embeddedFont>
    <p:embeddedFont>
      <p:font typeface="เอฟซี เดซี่ Bold" panose="020B0604020202020204" charset="-34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1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21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29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44.svg"/><Relationship Id="rId4" Type="http://schemas.openxmlformats.org/officeDocument/2006/relationships/image" Target="../media/image43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00529" y="5104860"/>
            <a:ext cx="7200900" cy="7200900"/>
          </a:xfrm>
          <a:custGeom>
            <a:avLst/>
            <a:gdLst/>
            <a:ahLst/>
            <a:cxnLst/>
            <a:rect l="l" t="t" r="r" b="b"/>
            <a:pathLst>
              <a:path w="7200900" h="7200900">
                <a:moveTo>
                  <a:pt x="0" y="0"/>
                </a:moveTo>
                <a:lnTo>
                  <a:pt x="7200900" y="0"/>
                </a:lnTo>
                <a:lnTo>
                  <a:pt x="72009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263948" y="2318602"/>
            <a:ext cx="13760104" cy="5649796"/>
            <a:chOff x="0" y="0"/>
            <a:chExt cx="3624060" cy="14880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24061" cy="1488012"/>
            </a:xfrm>
            <a:custGeom>
              <a:avLst/>
              <a:gdLst/>
              <a:ahLst/>
              <a:cxnLst/>
              <a:rect l="l" t="t" r="r" b="b"/>
              <a:pathLst>
                <a:path w="3624061" h="1488012">
                  <a:moveTo>
                    <a:pt x="18567" y="0"/>
                  </a:moveTo>
                  <a:lnTo>
                    <a:pt x="3605493" y="0"/>
                  </a:lnTo>
                  <a:cubicBezTo>
                    <a:pt x="3615748" y="0"/>
                    <a:pt x="3624061" y="8313"/>
                    <a:pt x="3624061" y="18567"/>
                  </a:cubicBezTo>
                  <a:lnTo>
                    <a:pt x="3624061" y="1469445"/>
                  </a:lnTo>
                  <a:cubicBezTo>
                    <a:pt x="3624061" y="1479699"/>
                    <a:pt x="3615748" y="1488012"/>
                    <a:pt x="3605493" y="1488012"/>
                  </a:cubicBezTo>
                  <a:lnTo>
                    <a:pt x="18567" y="1488012"/>
                  </a:lnTo>
                  <a:cubicBezTo>
                    <a:pt x="8313" y="1488012"/>
                    <a:pt x="0" y="1479699"/>
                    <a:pt x="0" y="1469445"/>
                  </a:cubicBezTo>
                  <a:lnTo>
                    <a:pt x="0" y="18567"/>
                  </a:lnTo>
                  <a:cubicBezTo>
                    <a:pt x="0" y="8313"/>
                    <a:pt x="8313" y="0"/>
                    <a:pt x="18567" y="0"/>
                  </a:cubicBezTo>
                  <a:close/>
                </a:path>
              </a:pathLst>
            </a:custGeom>
            <a:ln w="114300" cap="rnd">
              <a:solidFill>
                <a:srgbClr val="3A3D81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24060" cy="1526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557261" y="2613095"/>
            <a:ext cx="13173477" cy="5060811"/>
          </a:xfrm>
          <a:custGeom>
            <a:avLst/>
            <a:gdLst/>
            <a:ahLst/>
            <a:cxnLst/>
            <a:rect l="l" t="t" r="r" b="b"/>
            <a:pathLst>
              <a:path w="13173477" h="5060811">
                <a:moveTo>
                  <a:pt x="0" y="0"/>
                </a:moveTo>
                <a:lnTo>
                  <a:pt x="13173478" y="0"/>
                </a:lnTo>
                <a:lnTo>
                  <a:pt x="13173478" y="5060810"/>
                </a:lnTo>
                <a:lnTo>
                  <a:pt x="0" y="5060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2885547" y="3630489"/>
            <a:ext cx="12516906" cy="2183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05"/>
              </a:lnSpc>
            </a:pPr>
            <a:r>
              <a:rPr lang="en-US" sz="8100" b="1">
                <a:solidFill>
                  <a:srgbClr val="FFFFFF"/>
                </a:solidFill>
                <a:latin typeface="Amaranth Bold"/>
                <a:ea typeface="Amaranth Bold"/>
                <a:cs typeface="Amaranth Bold"/>
                <a:sym typeface="Amaranth Bold"/>
              </a:rPr>
              <a:t>SLEEP STAGES CLASSIFICATION</a:t>
            </a:r>
          </a:p>
        </p:txBody>
      </p:sp>
      <p:sp>
        <p:nvSpPr>
          <p:cNvPr id="8" name="Freeform 8"/>
          <p:cNvSpPr/>
          <p:nvPr/>
        </p:nvSpPr>
        <p:spPr>
          <a:xfrm>
            <a:off x="0" y="-3600450"/>
            <a:ext cx="7200900" cy="7200900"/>
          </a:xfrm>
          <a:custGeom>
            <a:avLst/>
            <a:gdLst/>
            <a:ahLst/>
            <a:cxnLst/>
            <a:rect l="l" t="t" r="r" b="b"/>
            <a:pathLst>
              <a:path w="7200900" h="7200900">
                <a:moveTo>
                  <a:pt x="0" y="0"/>
                </a:moveTo>
                <a:lnTo>
                  <a:pt x="7200900" y="0"/>
                </a:lnTo>
                <a:lnTo>
                  <a:pt x="72009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6181942" y="378063"/>
            <a:ext cx="1778239" cy="1940539"/>
          </a:xfrm>
          <a:custGeom>
            <a:avLst/>
            <a:gdLst/>
            <a:ahLst/>
            <a:cxnLst/>
            <a:rect l="l" t="t" r="r" b="b"/>
            <a:pathLst>
              <a:path w="1778239" h="1940539">
                <a:moveTo>
                  <a:pt x="0" y="0"/>
                </a:moveTo>
                <a:lnTo>
                  <a:pt x="1778240" y="0"/>
                </a:lnTo>
                <a:lnTo>
                  <a:pt x="1778240" y="1940539"/>
                </a:lnTo>
                <a:lnTo>
                  <a:pt x="0" y="1940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-867127" y="8476669"/>
            <a:ext cx="3131075" cy="1810331"/>
          </a:xfrm>
          <a:custGeom>
            <a:avLst/>
            <a:gdLst/>
            <a:ahLst/>
            <a:cxnLst/>
            <a:rect l="l" t="t" r="r" b="b"/>
            <a:pathLst>
              <a:path w="3131075" h="1810331">
                <a:moveTo>
                  <a:pt x="0" y="0"/>
                </a:moveTo>
                <a:lnTo>
                  <a:pt x="3131075" y="0"/>
                </a:lnTo>
                <a:lnTo>
                  <a:pt x="3131075" y="1810331"/>
                </a:lnTo>
                <a:lnTo>
                  <a:pt x="0" y="18103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5543550" y="5649789"/>
            <a:ext cx="7200900" cy="1186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59"/>
              </a:lnSpc>
            </a:pPr>
            <a:r>
              <a:rPr lang="en-US" sz="6899" b="1">
                <a:solidFill>
                  <a:srgbClr val="FFFFFF"/>
                </a:solidFill>
                <a:latin typeface="เอฟซี เดซี่ Bold"/>
                <a:ea typeface="เอฟซี เดซี่ Bold"/>
                <a:cs typeface="เอฟซี เดซี่ Bold"/>
                <a:sym typeface="เอฟซี เดซี่ Bold"/>
              </a:rPr>
              <a:t>USING DEEP LEARNING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30554" y="8024928"/>
            <a:ext cx="4426893" cy="1698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4"/>
              </a:lnSpc>
            </a:pPr>
            <a:r>
              <a:rPr lang="en-US" sz="3239" b="1">
                <a:solidFill>
                  <a:srgbClr val="2C2B73"/>
                </a:solidFill>
                <a:latin typeface="Tarif Bold"/>
                <a:ea typeface="Tarif Bold"/>
                <a:cs typeface="Tarif Bold"/>
                <a:sym typeface="Tarif Bold"/>
              </a:rPr>
              <a:t>supervised by : </a:t>
            </a:r>
          </a:p>
          <a:p>
            <a:pPr algn="ctr">
              <a:lnSpc>
                <a:spcPts val="4534"/>
              </a:lnSpc>
            </a:pPr>
            <a:r>
              <a:rPr lang="en-US" sz="3239" b="1">
                <a:solidFill>
                  <a:srgbClr val="2C2B73"/>
                </a:solidFill>
                <a:latin typeface="Tarif Bold"/>
                <a:ea typeface="Tarif Bold"/>
                <a:cs typeface="Tarif Bold"/>
                <a:sym typeface="Tarif Bold"/>
              </a:rPr>
              <a:t>DR. Ibrahim Sadek</a:t>
            </a:r>
          </a:p>
          <a:p>
            <a:pPr algn="ctr">
              <a:lnSpc>
                <a:spcPts val="4534"/>
              </a:lnSpc>
              <a:spcBef>
                <a:spcPct val="0"/>
              </a:spcBef>
            </a:pPr>
            <a:r>
              <a:rPr lang="en-US" sz="3239" b="1">
                <a:solidFill>
                  <a:srgbClr val="2C2B73"/>
                </a:solidFill>
                <a:latin typeface="Tarif Bold"/>
                <a:ea typeface="Tarif Bold"/>
                <a:cs typeface="Tarif Bold"/>
                <a:sym typeface="Tarif Bold"/>
              </a:rPr>
              <a:t>ENG. Veronica William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26257" y="926627"/>
            <a:ext cx="7274364" cy="1301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11012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OUR TEAM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231506"/>
            <a:ext cx="2126257" cy="2320320"/>
          </a:xfrm>
          <a:custGeom>
            <a:avLst/>
            <a:gdLst/>
            <a:ahLst/>
            <a:cxnLst/>
            <a:rect l="l" t="t" r="r" b="b"/>
            <a:pathLst>
              <a:path w="2126257" h="2320320">
                <a:moveTo>
                  <a:pt x="0" y="0"/>
                </a:moveTo>
                <a:lnTo>
                  <a:pt x="2126257" y="0"/>
                </a:lnTo>
                <a:lnTo>
                  <a:pt x="2126257" y="2320320"/>
                </a:lnTo>
                <a:lnTo>
                  <a:pt x="0" y="23203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3705420">
            <a:off x="14471845" y="114402"/>
            <a:ext cx="6729803" cy="3891049"/>
          </a:xfrm>
          <a:custGeom>
            <a:avLst/>
            <a:gdLst/>
            <a:ahLst/>
            <a:cxnLst/>
            <a:rect l="l" t="t" r="r" b="b"/>
            <a:pathLst>
              <a:path w="6729803" h="3891049">
                <a:moveTo>
                  <a:pt x="0" y="0"/>
                </a:moveTo>
                <a:lnTo>
                  <a:pt x="6729803" y="0"/>
                </a:lnTo>
                <a:lnTo>
                  <a:pt x="6729803" y="3891050"/>
                </a:lnTo>
                <a:lnTo>
                  <a:pt x="0" y="3891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3705420">
            <a:off x="-3923237" y="6163857"/>
            <a:ext cx="6729803" cy="3891049"/>
          </a:xfrm>
          <a:custGeom>
            <a:avLst/>
            <a:gdLst/>
            <a:ahLst/>
            <a:cxnLst/>
            <a:rect l="l" t="t" r="r" b="b"/>
            <a:pathLst>
              <a:path w="6729803" h="3891049">
                <a:moveTo>
                  <a:pt x="0" y="0"/>
                </a:moveTo>
                <a:lnTo>
                  <a:pt x="6729803" y="0"/>
                </a:lnTo>
                <a:lnTo>
                  <a:pt x="6729803" y="3891049"/>
                </a:lnTo>
                <a:lnTo>
                  <a:pt x="0" y="38910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457220" y="2933133"/>
            <a:ext cx="13939164" cy="4287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97"/>
              </a:lnSpc>
            </a:pPr>
            <a:r>
              <a:rPr lang="en-US" sz="4567" b="1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WAFAA HASSAN RAMADAN</a:t>
            </a:r>
          </a:p>
          <a:p>
            <a:pPr algn="ctr">
              <a:lnSpc>
                <a:spcPts val="6897"/>
              </a:lnSpc>
            </a:pPr>
            <a:endParaRPr lang="en-US" sz="4567" b="1">
              <a:solidFill>
                <a:srgbClr val="3A3D81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6897"/>
              </a:lnSpc>
            </a:pPr>
            <a:r>
              <a:rPr lang="en-US" sz="4567" b="1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SOHAILA ELSAYED IBRAHIM</a:t>
            </a:r>
          </a:p>
          <a:p>
            <a:pPr algn="ctr">
              <a:lnSpc>
                <a:spcPts val="6897"/>
              </a:lnSpc>
            </a:pPr>
            <a:endParaRPr lang="en-US" sz="4567" b="1">
              <a:solidFill>
                <a:srgbClr val="3A3D81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6897"/>
              </a:lnSpc>
            </a:pPr>
            <a:r>
              <a:rPr lang="en-US" sz="4567" b="1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MENNAT ALLAH MOHAMED ELSAYED</a:t>
            </a:r>
          </a:p>
        </p:txBody>
      </p:sp>
      <p:sp>
        <p:nvSpPr>
          <p:cNvPr id="7" name="Freeform 7"/>
          <p:cNvSpPr/>
          <p:nvPr/>
        </p:nvSpPr>
        <p:spPr>
          <a:xfrm rot="-2265381">
            <a:off x="12795934" y="5093278"/>
            <a:ext cx="7200900" cy="7200900"/>
          </a:xfrm>
          <a:custGeom>
            <a:avLst/>
            <a:gdLst/>
            <a:ahLst/>
            <a:cxnLst/>
            <a:rect l="l" t="t" r="r" b="b"/>
            <a:pathLst>
              <a:path w="7200900" h="7200900">
                <a:moveTo>
                  <a:pt x="0" y="0"/>
                </a:moveTo>
                <a:lnTo>
                  <a:pt x="7200900" y="0"/>
                </a:lnTo>
                <a:lnTo>
                  <a:pt x="72009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w="9525" cap="flat">
            <a:solidFill>
              <a:srgbClr val="ACB5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177410" y="-1214117"/>
            <a:ext cx="3758453" cy="3758453"/>
          </a:xfrm>
          <a:custGeom>
            <a:avLst/>
            <a:gdLst/>
            <a:ahLst/>
            <a:cxnLst/>
            <a:rect l="l" t="t" r="r" b="b"/>
            <a:pathLst>
              <a:path w="3758453" h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632185" y="7677423"/>
            <a:ext cx="3758453" cy="3758453"/>
          </a:xfrm>
          <a:custGeom>
            <a:avLst/>
            <a:gdLst/>
            <a:ahLst/>
            <a:cxnLst/>
            <a:rect l="l" t="t" r="r" b="b"/>
            <a:pathLst>
              <a:path w="3758453" h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936120" y="8651484"/>
            <a:ext cx="3131075" cy="1810331"/>
          </a:xfrm>
          <a:custGeom>
            <a:avLst/>
            <a:gdLst/>
            <a:ahLst/>
            <a:cxnLst/>
            <a:rect l="l" t="t" r="r" b="b"/>
            <a:pathLst>
              <a:path w="3131075" h="1810331">
                <a:moveTo>
                  <a:pt x="0" y="0"/>
                </a:moveTo>
                <a:lnTo>
                  <a:pt x="3131075" y="0"/>
                </a:lnTo>
                <a:lnTo>
                  <a:pt x="3131075" y="1810331"/>
                </a:lnTo>
                <a:lnTo>
                  <a:pt x="0" y="18103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635604" y="-288678"/>
            <a:ext cx="2870265" cy="1317378"/>
          </a:xfrm>
          <a:custGeom>
            <a:avLst/>
            <a:gdLst/>
            <a:ahLst/>
            <a:cxnLst/>
            <a:rect l="l" t="t" r="r" b="b"/>
            <a:pathLst>
              <a:path w="2870265" h="1317378">
                <a:moveTo>
                  <a:pt x="0" y="0"/>
                </a:moveTo>
                <a:lnTo>
                  <a:pt x="2870265" y="0"/>
                </a:lnTo>
                <a:lnTo>
                  <a:pt x="2870265" y="1317378"/>
                </a:lnTo>
                <a:lnTo>
                  <a:pt x="0" y="1317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47041" y="166273"/>
            <a:ext cx="1778239" cy="1940539"/>
          </a:xfrm>
          <a:custGeom>
            <a:avLst/>
            <a:gdLst/>
            <a:ahLst/>
            <a:cxnLst/>
            <a:rect l="l" t="t" r="r" b="b"/>
            <a:pathLst>
              <a:path w="1778239" h="1940539">
                <a:moveTo>
                  <a:pt x="0" y="0"/>
                </a:moveTo>
                <a:lnTo>
                  <a:pt x="1778239" y="0"/>
                </a:lnTo>
                <a:lnTo>
                  <a:pt x="1778239" y="1940539"/>
                </a:lnTo>
                <a:lnTo>
                  <a:pt x="0" y="1940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425602" y="2758349"/>
            <a:ext cx="7862398" cy="5241599"/>
          </a:xfrm>
          <a:custGeom>
            <a:avLst/>
            <a:gdLst/>
            <a:ahLst/>
            <a:cxnLst/>
            <a:rect l="l" t="t" r="r" b="b"/>
            <a:pathLst>
              <a:path w="7862398" h="5241599">
                <a:moveTo>
                  <a:pt x="0" y="0"/>
                </a:moveTo>
                <a:lnTo>
                  <a:pt x="7862398" y="0"/>
                </a:lnTo>
                <a:lnTo>
                  <a:pt x="7862398" y="5241598"/>
                </a:lnTo>
                <a:lnTo>
                  <a:pt x="0" y="52415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237148" y="2021087"/>
            <a:ext cx="10076870" cy="8484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5"/>
              </a:lnSpc>
            </a:pPr>
            <a:r>
              <a:rPr lang="en-US" sz="3524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Develop a deep learning–based model for automatic sleep stage classification from physiological signals.</a:t>
            </a:r>
          </a:p>
          <a:p>
            <a:pPr algn="l">
              <a:lnSpc>
                <a:spcPts val="4475"/>
              </a:lnSpc>
            </a:pPr>
            <a:endParaRPr lang="en-US" sz="3524">
              <a:solidFill>
                <a:srgbClr val="3A3D81"/>
              </a:solidFill>
              <a:latin typeface="Jet"/>
              <a:ea typeface="Jet"/>
              <a:cs typeface="Jet"/>
              <a:sym typeface="Jet"/>
            </a:endParaRPr>
          </a:p>
          <a:p>
            <a:pPr algn="l">
              <a:lnSpc>
                <a:spcPts val="4475"/>
              </a:lnSpc>
            </a:pPr>
            <a:r>
              <a:rPr lang="en-US" sz="3524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The model analyzes time-series signal data and classifies each segment into one of the five sleep stages:</a:t>
            </a:r>
          </a:p>
          <a:p>
            <a:pPr algn="l">
              <a:lnSpc>
                <a:spcPts val="4475"/>
              </a:lnSpc>
            </a:pPr>
            <a:r>
              <a:rPr lang="en-US" sz="3524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Wake, N1, N2, N3, and REM.</a:t>
            </a:r>
          </a:p>
          <a:p>
            <a:pPr algn="l">
              <a:lnSpc>
                <a:spcPts val="4475"/>
              </a:lnSpc>
            </a:pPr>
            <a:endParaRPr lang="en-US" sz="3524">
              <a:solidFill>
                <a:srgbClr val="3A3D81"/>
              </a:solidFill>
              <a:latin typeface="Jet"/>
              <a:ea typeface="Jet"/>
              <a:cs typeface="Jet"/>
              <a:sym typeface="Jet"/>
            </a:endParaRPr>
          </a:p>
          <a:p>
            <a:pPr algn="l">
              <a:lnSpc>
                <a:spcPts val="4475"/>
              </a:lnSpc>
            </a:pPr>
            <a:r>
              <a:rPr lang="en-US" sz="3524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The proposed system aims to improve the efficiency and accuracy of sleep analysis.</a:t>
            </a:r>
          </a:p>
          <a:p>
            <a:pPr algn="l">
              <a:lnSpc>
                <a:spcPts val="4475"/>
              </a:lnSpc>
            </a:pPr>
            <a:r>
              <a:rPr lang="en-US" sz="3524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It can assist clinicians by reducing manual scoring effort and increasing the reliability of sleep stage detection.</a:t>
            </a:r>
          </a:p>
          <a:p>
            <a:pPr algn="l">
              <a:lnSpc>
                <a:spcPts val="4475"/>
              </a:lnSpc>
            </a:pPr>
            <a:endParaRPr lang="en-US" sz="3524">
              <a:solidFill>
                <a:srgbClr val="3A3D81"/>
              </a:solidFill>
              <a:latin typeface="Jet"/>
              <a:ea typeface="Jet"/>
              <a:cs typeface="Jet"/>
              <a:sym typeface="Je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797509" y="873208"/>
            <a:ext cx="10290356" cy="1233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40"/>
              </a:lnSpc>
            </a:pPr>
            <a:r>
              <a:rPr lang="en-US" sz="10523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INTRODUCTION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80411" y="9026170"/>
            <a:ext cx="1078889" cy="654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w="9525" cap="flat">
            <a:solidFill>
              <a:srgbClr val="ACB5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177410" y="-1214117"/>
            <a:ext cx="3758453" cy="3758453"/>
          </a:xfrm>
          <a:custGeom>
            <a:avLst/>
            <a:gdLst/>
            <a:ahLst/>
            <a:cxnLst/>
            <a:rect l="l" t="t" r="r" b="b"/>
            <a:pathLst>
              <a:path w="3758453" h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632185" y="7677423"/>
            <a:ext cx="3758453" cy="3758453"/>
          </a:xfrm>
          <a:custGeom>
            <a:avLst/>
            <a:gdLst/>
            <a:ahLst/>
            <a:cxnLst/>
            <a:rect l="l" t="t" r="r" b="b"/>
            <a:pathLst>
              <a:path w="3758453" h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746708" y="8907715"/>
            <a:ext cx="3131075" cy="1810331"/>
          </a:xfrm>
          <a:custGeom>
            <a:avLst/>
            <a:gdLst/>
            <a:ahLst/>
            <a:cxnLst/>
            <a:rect l="l" t="t" r="r" b="b"/>
            <a:pathLst>
              <a:path w="3131075" h="1810331">
                <a:moveTo>
                  <a:pt x="0" y="0"/>
                </a:moveTo>
                <a:lnTo>
                  <a:pt x="3131075" y="0"/>
                </a:lnTo>
                <a:lnTo>
                  <a:pt x="3131075" y="1810331"/>
                </a:lnTo>
                <a:lnTo>
                  <a:pt x="0" y="18103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635604" y="-288678"/>
            <a:ext cx="2870265" cy="1317378"/>
          </a:xfrm>
          <a:custGeom>
            <a:avLst/>
            <a:gdLst/>
            <a:ahLst/>
            <a:cxnLst/>
            <a:rect l="l" t="t" r="r" b="b"/>
            <a:pathLst>
              <a:path w="2870265" h="1317378">
                <a:moveTo>
                  <a:pt x="0" y="0"/>
                </a:moveTo>
                <a:lnTo>
                  <a:pt x="2870265" y="0"/>
                </a:lnTo>
                <a:lnTo>
                  <a:pt x="2870265" y="1317378"/>
                </a:lnTo>
                <a:lnTo>
                  <a:pt x="0" y="1317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47041" y="230911"/>
            <a:ext cx="1778239" cy="1940539"/>
          </a:xfrm>
          <a:custGeom>
            <a:avLst/>
            <a:gdLst/>
            <a:ahLst/>
            <a:cxnLst/>
            <a:rect l="l" t="t" r="r" b="b"/>
            <a:pathLst>
              <a:path w="1778239" h="1940539">
                <a:moveTo>
                  <a:pt x="0" y="0"/>
                </a:moveTo>
                <a:lnTo>
                  <a:pt x="1778239" y="0"/>
                </a:lnTo>
                <a:lnTo>
                  <a:pt x="1778239" y="1940538"/>
                </a:lnTo>
                <a:lnTo>
                  <a:pt x="0" y="19405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463802" y="2343936"/>
            <a:ext cx="8592835" cy="4790923"/>
          </a:xfrm>
          <a:custGeom>
            <a:avLst/>
            <a:gdLst/>
            <a:ahLst/>
            <a:cxnLst/>
            <a:rect l="l" t="t" r="r" b="b"/>
            <a:pathLst>
              <a:path w="8592835" h="4790923">
                <a:moveTo>
                  <a:pt x="0" y="0"/>
                </a:moveTo>
                <a:lnTo>
                  <a:pt x="8592835" y="0"/>
                </a:lnTo>
                <a:lnTo>
                  <a:pt x="8592835" y="4790923"/>
                </a:lnTo>
                <a:lnTo>
                  <a:pt x="0" y="47909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735758" y="592861"/>
            <a:ext cx="10290356" cy="1233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40"/>
              </a:lnSpc>
            </a:pPr>
            <a:r>
              <a:rPr lang="en-US" sz="10523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DATASET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80411" y="9026170"/>
            <a:ext cx="1078889" cy="654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324886"/>
            <a:ext cx="8726522" cy="6065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3444" b="1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MESA</a:t>
            </a:r>
            <a:r>
              <a:rPr lang="en-US" sz="3444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 (Multi-Ethnic Study of Atherosclerosis) Sleep Dataset is a large-scale, comprehensive collection of physiological sleep data.</a:t>
            </a:r>
          </a:p>
          <a:p>
            <a:pPr algn="l">
              <a:lnSpc>
                <a:spcPts val="4373"/>
              </a:lnSpc>
            </a:pPr>
            <a:endParaRPr lang="en-US" sz="3444">
              <a:solidFill>
                <a:srgbClr val="3A3D81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373"/>
              </a:lnSpc>
            </a:pPr>
            <a:r>
              <a:rPr lang="en-US" sz="3444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 It is hosted by the National Sleep Research Resource (NSRR) and was originally designed to study the links between sleep characteristics and cardiovascular health across a diverse demographic of over 2,000 participants.</a:t>
            </a:r>
          </a:p>
        </p:txBody>
      </p:sp>
      <p:sp>
        <p:nvSpPr>
          <p:cNvPr id="12" name="Freeform 12"/>
          <p:cNvSpPr/>
          <p:nvPr/>
        </p:nvSpPr>
        <p:spPr>
          <a:xfrm rot="-593986">
            <a:off x="11683099" y="-163141"/>
            <a:ext cx="1581124" cy="1394264"/>
          </a:xfrm>
          <a:custGeom>
            <a:avLst/>
            <a:gdLst/>
            <a:ahLst/>
            <a:cxnLst/>
            <a:rect l="l" t="t" r="r" b="b"/>
            <a:pathLst>
              <a:path w="1581124" h="1394264">
                <a:moveTo>
                  <a:pt x="0" y="0"/>
                </a:moveTo>
                <a:lnTo>
                  <a:pt x="1581123" y="0"/>
                </a:lnTo>
                <a:lnTo>
                  <a:pt x="1581123" y="1394264"/>
                </a:lnTo>
                <a:lnTo>
                  <a:pt x="0" y="1394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3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26268" y="1581848"/>
            <a:ext cx="14717220" cy="7483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9"/>
              </a:lnSpc>
            </a:pPr>
            <a:r>
              <a:rPr lang="en-US" sz="3558" u="sng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Dataset Structure:</a:t>
            </a:r>
          </a:p>
          <a:p>
            <a:pPr algn="l">
              <a:lnSpc>
                <a:spcPts val="4519"/>
              </a:lnSpc>
            </a:pPr>
            <a:r>
              <a:rPr lang="en-US" sz="3558" u="sng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Signal Data (X):</a:t>
            </a:r>
          </a:p>
          <a:p>
            <a:pPr marL="768237" lvl="1" indent="-384118" algn="l">
              <a:lnSpc>
                <a:spcPts val="4519"/>
              </a:lnSpc>
              <a:buFont typeface="Arial"/>
              <a:buChar char="•"/>
            </a:pPr>
            <a:r>
              <a:rPr lang="en-US" sz="3558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The input data consists of time-series physiological signals. These signals provide valuable information about brain activity and physiological changes occurring during different sleep stages.</a:t>
            </a:r>
          </a:p>
          <a:p>
            <a:pPr algn="l">
              <a:lnSpc>
                <a:spcPts val="4519"/>
              </a:lnSpc>
            </a:pPr>
            <a:endParaRPr lang="en-US" sz="3558">
              <a:solidFill>
                <a:srgbClr val="3A3D81"/>
              </a:solidFill>
              <a:latin typeface="Jet"/>
              <a:ea typeface="Jet"/>
              <a:cs typeface="Jet"/>
              <a:sym typeface="Jet"/>
            </a:endParaRPr>
          </a:p>
          <a:p>
            <a:pPr marL="768237" lvl="1" indent="-384118" algn="l">
              <a:lnSpc>
                <a:spcPts val="4519"/>
              </a:lnSpc>
              <a:buFont typeface="Arial"/>
              <a:buChar char="•"/>
            </a:pPr>
            <a:r>
              <a:rPr lang="en-US" sz="3558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Each signal sample is represented as a sequence of numerical values describing signal amplitude over time. These signals include measurements of:                                                                         [EKG, EOG-L, EOG-R, EMG, EEG1, EEG2, EEG3, Pres, Flow, Snore, Thor, Abdo, Leg, Therm, Pos, EKG_Off, EOG-L_Off, EOG-R_Off, EMG_Off, EEG1_Off, EEG2_Off, EEG3_Off, Pleth, OxStatus, SpO2, HR, DHR]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735758" y="592861"/>
            <a:ext cx="10290356" cy="1233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40"/>
              </a:lnSpc>
            </a:pPr>
            <a:r>
              <a:rPr lang="en-US" sz="10523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DATASET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180411" y="9026170"/>
            <a:ext cx="1078889" cy="654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03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w="9525" cap="flat">
            <a:solidFill>
              <a:srgbClr val="ACB5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177410" y="-1214117"/>
            <a:ext cx="3758453" cy="3758453"/>
          </a:xfrm>
          <a:custGeom>
            <a:avLst/>
            <a:gdLst/>
            <a:ahLst/>
            <a:cxnLst/>
            <a:rect l="l" t="t" r="r" b="b"/>
            <a:pathLst>
              <a:path w="3758453" h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1632185" y="7677423"/>
            <a:ext cx="3758453" cy="3758453"/>
          </a:xfrm>
          <a:custGeom>
            <a:avLst/>
            <a:gdLst/>
            <a:ahLst/>
            <a:cxnLst/>
            <a:rect l="l" t="t" r="r" b="b"/>
            <a:pathLst>
              <a:path w="3758453" h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-746708" y="8907715"/>
            <a:ext cx="3131075" cy="1810331"/>
          </a:xfrm>
          <a:custGeom>
            <a:avLst/>
            <a:gdLst/>
            <a:ahLst/>
            <a:cxnLst/>
            <a:rect l="l" t="t" r="r" b="b"/>
            <a:pathLst>
              <a:path w="3131075" h="1810331">
                <a:moveTo>
                  <a:pt x="0" y="0"/>
                </a:moveTo>
                <a:lnTo>
                  <a:pt x="3131075" y="0"/>
                </a:lnTo>
                <a:lnTo>
                  <a:pt x="3131075" y="1810331"/>
                </a:lnTo>
                <a:lnTo>
                  <a:pt x="0" y="18103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635604" y="-288678"/>
            <a:ext cx="2870265" cy="1317378"/>
          </a:xfrm>
          <a:custGeom>
            <a:avLst/>
            <a:gdLst/>
            <a:ahLst/>
            <a:cxnLst/>
            <a:rect l="l" t="t" r="r" b="b"/>
            <a:pathLst>
              <a:path w="2870265" h="1317378">
                <a:moveTo>
                  <a:pt x="0" y="0"/>
                </a:moveTo>
                <a:lnTo>
                  <a:pt x="2870265" y="0"/>
                </a:lnTo>
                <a:lnTo>
                  <a:pt x="2870265" y="1317378"/>
                </a:lnTo>
                <a:lnTo>
                  <a:pt x="0" y="1317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348028" y="370011"/>
            <a:ext cx="1778239" cy="1940539"/>
          </a:xfrm>
          <a:custGeom>
            <a:avLst/>
            <a:gdLst/>
            <a:ahLst/>
            <a:cxnLst/>
            <a:rect l="l" t="t" r="r" b="b"/>
            <a:pathLst>
              <a:path w="1778239" h="1940539">
                <a:moveTo>
                  <a:pt x="0" y="0"/>
                </a:moveTo>
                <a:lnTo>
                  <a:pt x="1778240" y="0"/>
                </a:lnTo>
                <a:lnTo>
                  <a:pt x="1778240" y="1940539"/>
                </a:lnTo>
                <a:lnTo>
                  <a:pt x="0" y="1940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43499" y="1952761"/>
            <a:ext cx="15930369" cy="46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2"/>
              </a:lnSpc>
            </a:pPr>
            <a:r>
              <a:rPr lang="en-US" sz="3337" u="sng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annotation (labels) (y)</a:t>
            </a:r>
          </a:p>
          <a:p>
            <a:pPr algn="l">
              <a:lnSpc>
                <a:spcPts val="4672"/>
              </a:lnSpc>
            </a:pPr>
            <a:r>
              <a:rPr lang="en-US" sz="3337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The XML file acts as a "Time-Stamped Log" or "Metadata Map" created by sleep technicians to describe the continuous signals found in the EDF file.</a:t>
            </a:r>
          </a:p>
          <a:p>
            <a:pPr algn="l">
              <a:lnSpc>
                <a:spcPts val="4672"/>
              </a:lnSpc>
            </a:pPr>
            <a:r>
              <a:rPr lang="en-US" sz="3337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Sleep Staging :Divides the entire recording into 30-second epochs.</a:t>
            </a:r>
          </a:p>
          <a:p>
            <a:pPr algn="l">
              <a:lnSpc>
                <a:spcPts val="4672"/>
              </a:lnSpc>
            </a:pPr>
            <a:r>
              <a:rPr lang="en-US" sz="3337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Scored Events (Clinical Observations):Respiratory Events - Oxygen Desaturation - Limb Movements</a:t>
            </a:r>
          </a:p>
          <a:p>
            <a:pPr algn="l">
              <a:lnSpc>
                <a:spcPts val="4672"/>
              </a:lnSpc>
            </a:pPr>
            <a:endParaRPr lang="en-US" sz="3337">
              <a:solidFill>
                <a:srgbClr val="3A3D81"/>
              </a:solidFill>
              <a:latin typeface="Jet"/>
              <a:ea typeface="Jet"/>
              <a:cs typeface="Jet"/>
              <a:sym typeface="Jet"/>
            </a:endParaRPr>
          </a:p>
          <a:p>
            <a:pPr algn="l">
              <a:lnSpc>
                <a:spcPts val="3337"/>
              </a:lnSpc>
            </a:pPr>
            <a:endParaRPr lang="en-US" sz="3337">
              <a:solidFill>
                <a:srgbClr val="3A3D81"/>
              </a:solidFill>
              <a:latin typeface="Jet"/>
              <a:ea typeface="Jet"/>
              <a:cs typeface="Jet"/>
              <a:sym typeface="Jet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797509" y="873208"/>
            <a:ext cx="10290356" cy="1233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40"/>
              </a:lnSpc>
            </a:pPr>
            <a:r>
              <a:rPr lang="en-US" sz="10523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DATASET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180411" y="9026170"/>
            <a:ext cx="1078889" cy="654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04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w="9525" cap="flat">
            <a:solidFill>
              <a:srgbClr val="ACB5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177410" y="-1214117"/>
            <a:ext cx="3758453" cy="3758453"/>
          </a:xfrm>
          <a:custGeom>
            <a:avLst/>
            <a:gdLst/>
            <a:ahLst/>
            <a:cxnLst/>
            <a:rect l="l" t="t" r="r" b="b"/>
            <a:pathLst>
              <a:path w="3758453" h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1632185" y="7677423"/>
            <a:ext cx="3758453" cy="3758453"/>
          </a:xfrm>
          <a:custGeom>
            <a:avLst/>
            <a:gdLst/>
            <a:ahLst/>
            <a:cxnLst/>
            <a:rect l="l" t="t" r="r" b="b"/>
            <a:pathLst>
              <a:path w="3758453" h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-746708" y="8907715"/>
            <a:ext cx="3131075" cy="1810331"/>
          </a:xfrm>
          <a:custGeom>
            <a:avLst/>
            <a:gdLst/>
            <a:ahLst/>
            <a:cxnLst/>
            <a:rect l="l" t="t" r="r" b="b"/>
            <a:pathLst>
              <a:path w="3131075" h="1810331">
                <a:moveTo>
                  <a:pt x="0" y="0"/>
                </a:moveTo>
                <a:lnTo>
                  <a:pt x="3131075" y="0"/>
                </a:lnTo>
                <a:lnTo>
                  <a:pt x="3131075" y="1810331"/>
                </a:lnTo>
                <a:lnTo>
                  <a:pt x="0" y="18103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635604" y="-288678"/>
            <a:ext cx="2870265" cy="1317378"/>
          </a:xfrm>
          <a:custGeom>
            <a:avLst/>
            <a:gdLst/>
            <a:ahLst/>
            <a:cxnLst/>
            <a:rect l="l" t="t" r="r" b="b"/>
            <a:pathLst>
              <a:path w="2870265" h="1317378">
                <a:moveTo>
                  <a:pt x="0" y="0"/>
                </a:moveTo>
                <a:lnTo>
                  <a:pt x="2870265" y="0"/>
                </a:lnTo>
                <a:lnTo>
                  <a:pt x="2870265" y="1317378"/>
                </a:lnTo>
                <a:lnTo>
                  <a:pt x="0" y="1317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247041" y="338778"/>
            <a:ext cx="1778239" cy="1940539"/>
          </a:xfrm>
          <a:custGeom>
            <a:avLst/>
            <a:gdLst/>
            <a:ahLst/>
            <a:cxnLst/>
            <a:rect l="l" t="t" r="r" b="b"/>
            <a:pathLst>
              <a:path w="1778239" h="1940539">
                <a:moveTo>
                  <a:pt x="0" y="0"/>
                </a:moveTo>
                <a:lnTo>
                  <a:pt x="1778239" y="0"/>
                </a:lnTo>
                <a:lnTo>
                  <a:pt x="1778239" y="1940539"/>
                </a:lnTo>
                <a:lnTo>
                  <a:pt x="0" y="1940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11" name="Object 11"/>
          <p:cNvGraphicFramePr/>
          <p:nvPr/>
        </p:nvGraphicFramePr>
        <p:xfrm>
          <a:off x="5138252" y="5273061"/>
          <a:ext cx="5657850" cy="377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6781800" imgH="4902200" progId="Excel.Sheet.12">
                  <p:embed/>
                </p:oleObj>
              </mc:Choice>
              <mc:Fallback>
                <p:oleObj name="Worksheet" r:id="rId6" imgW="6781800" imgH="4902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138252" y="5273061"/>
                        <a:ext cx="5657850" cy="3771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0224" y="2301658"/>
            <a:ext cx="15679631" cy="7254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8237" lvl="1" indent="-384118" algn="l">
              <a:lnSpc>
                <a:spcPts val="4519"/>
              </a:lnSpc>
              <a:buFont typeface="Arial"/>
              <a:buChar char="•"/>
            </a:pPr>
            <a:r>
              <a:rPr lang="en-US" sz="3558" b="1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EOG:</a:t>
            </a:r>
            <a:r>
              <a:rPr lang="en-US" sz="3558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 Non-invasive electrophysiological technique that records corneo-retinal standing potential</a:t>
            </a:r>
          </a:p>
          <a:p>
            <a:pPr marL="768237" lvl="1" indent="-384118" algn="l">
              <a:lnSpc>
                <a:spcPts val="4519"/>
              </a:lnSpc>
              <a:buFont typeface="Arial"/>
              <a:buChar char="•"/>
            </a:pPr>
            <a:r>
              <a:rPr lang="en-US" sz="3558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Captures horizontal and vertical eye movements through potential differences between electrodes</a:t>
            </a:r>
          </a:p>
          <a:p>
            <a:pPr algn="l">
              <a:lnSpc>
                <a:spcPts val="4519"/>
              </a:lnSpc>
            </a:pPr>
            <a:endParaRPr lang="en-US" sz="3558">
              <a:solidFill>
                <a:srgbClr val="3A3D81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519"/>
              </a:lnSpc>
            </a:pPr>
            <a:r>
              <a:rPr lang="en-US" sz="3558" b="1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Advantages:</a:t>
            </a:r>
          </a:p>
          <a:p>
            <a:pPr marL="768237" lvl="1" indent="-384118" algn="l">
              <a:lnSpc>
                <a:spcPts val="4519"/>
              </a:lnSpc>
              <a:buFont typeface="Arial"/>
              <a:buChar char="•"/>
            </a:pPr>
            <a:r>
              <a:rPr lang="en-US" sz="3558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Less invasive than EEG (fewer electrodes)</a:t>
            </a:r>
          </a:p>
          <a:p>
            <a:pPr marL="768237" lvl="1" indent="-384118" algn="l">
              <a:lnSpc>
                <a:spcPts val="4519"/>
              </a:lnSpc>
              <a:buFont typeface="Arial"/>
              <a:buChar char="•"/>
            </a:pPr>
            <a:r>
              <a:rPr lang="en-US" sz="3558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Strong correlation with REM sleep (eye movements)</a:t>
            </a:r>
          </a:p>
          <a:p>
            <a:pPr marL="768237" lvl="1" indent="-384118" algn="l">
              <a:lnSpc>
                <a:spcPts val="4519"/>
              </a:lnSpc>
              <a:buFont typeface="Arial"/>
              <a:buChar char="•"/>
            </a:pPr>
            <a:r>
              <a:rPr lang="en-US" sz="3558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More suitable for wearable devices</a:t>
            </a:r>
          </a:p>
          <a:p>
            <a:pPr marL="768237" lvl="1" indent="-384118" algn="l">
              <a:lnSpc>
                <a:spcPts val="4519"/>
              </a:lnSpc>
              <a:buFont typeface="Arial"/>
              <a:buChar char="•"/>
            </a:pPr>
            <a:r>
              <a:rPr lang="en-US" sz="3558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Lower cost and easier setup</a:t>
            </a:r>
          </a:p>
          <a:p>
            <a:pPr algn="l">
              <a:lnSpc>
                <a:spcPts val="4519"/>
              </a:lnSpc>
            </a:pPr>
            <a:endParaRPr lang="en-US" sz="3558">
              <a:solidFill>
                <a:srgbClr val="3A3D81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273"/>
              </a:lnSpc>
            </a:pPr>
            <a:endParaRPr lang="en-US" sz="3558">
              <a:solidFill>
                <a:srgbClr val="3A3D81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519"/>
              </a:lnSpc>
            </a:pPr>
            <a:endParaRPr lang="en-US" sz="3558">
              <a:solidFill>
                <a:srgbClr val="3A3D81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w="9525" cap="flat">
            <a:solidFill>
              <a:srgbClr val="ACB5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177410" y="-1214117"/>
            <a:ext cx="3758453" cy="3758453"/>
          </a:xfrm>
          <a:custGeom>
            <a:avLst/>
            <a:gdLst/>
            <a:ahLst/>
            <a:cxnLst/>
            <a:rect l="l" t="t" r="r" b="b"/>
            <a:pathLst>
              <a:path w="3758453" h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632185" y="7677423"/>
            <a:ext cx="3758453" cy="3758453"/>
          </a:xfrm>
          <a:custGeom>
            <a:avLst/>
            <a:gdLst/>
            <a:ahLst/>
            <a:cxnLst/>
            <a:rect l="l" t="t" r="r" b="b"/>
            <a:pathLst>
              <a:path w="3758453" h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746708" y="8907715"/>
            <a:ext cx="3131075" cy="1810331"/>
          </a:xfrm>
          <a:custGeom>
            <a:avLst/>
            <a:gdLst/>
            <a:ahLst/>
            <a:cxnLst/>
            <a:rect l="l" t="t" r="r" b="b"/>
            <a:pathLst>
              <a:path w="3131075" h="1810331">
                <a:moveTo>
                  <a:pt x="0" y="0"/>
                </a:moveTo>
                <a:lnTo>
                  <a:pt x="3131075" y="0"/>
                </a:lnTo>
                <a:lnTo>
                  <a:pt x="3131075" y="1810331"/>
                </a:lnTo>
                <a:lnTo>
                  <a:pt x="0" y="18103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0" y="1145318"/>
            <a:ext cx="14026114" cy="139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8"/>
              </a:lnSpc>
            </a:pPr>
            <a:r>
              <a:rPr lang="en-US" sz="6224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ELECTROOCULOGRAPHY (EOG) SIGNAL</a:t>
            </a:r>
          </a:p>
          <a:p>
            <a:pPr algn="ctr">
              <a:lnSpc>
                <a:spcPts val="5228"/>
              </a:lnSpc>
            </a:pPr>
            <a:endParaRPr lang="en-US" sz="6224">
              <a:solidFill>
                <a:srgbClr val="3A3D81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6180411" y="9026170"/>
            <a:ext cx="1078889" cy="654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05</a:t>
            </a:r>
          </a:p>
        </p:txBody>
      </p:sp>
      <p:sp>
        <p:nvSpPr>
          <p:cNvPr id="9" name="Freeform 9"/>
          <p:cNvSpPr/>
          <p:nvPr/>
        </p:nvSpPr>
        <p:spPr>
          <a:xfrm>
            <a:off x="15382206" y="40127"/>
            <a:ext cx="3131075" cy="1810331"/>
          </a:xfrm>
          <a:custGeom>
            <a:avLst/>
            <a:gdLst/>
            <a:ahLst/>
            <a:cxnLst/>
            <a:rect l="l" t="t" r="r" b="b"/>
            <a:pathLst>
              <a:path w="3131075" h="1810331">
                <a:moveTo>
                  <a:pt x="0" y="0"/>
                </a:moveTo>
                <a:lnTo>
                  <a:pt x="3131075" y="0"/>
                </a:lnTo>
                <a:lnTo>
                  <a:pt x="3131075" y="1810331"/>
                </a:lnTo>
                <a:lnTo>
                  <a:pt x="0" y="18103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484320"/>
            <a:ext cx="15679631" cy="559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8237" lvl="1" indent="-384118" algn="l">
              <a:lnSpc>
                <a:spcPts val="4519"/>
              </a:lnSpc>
              <a:buFont typeface="Arial"/>
              <a:buChar char="•"/>
            </a:pPr>
            <a:r>
              <a:rPr lang="en-US" sz="3558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Develop a robust deep learning framework for multi-class sleep stage classification (Wake, N1, N2, N3, REM) using single-channel EOG</a:t>
            </a:r>
          </a:p>
          <a:p>
            <a:pPr marL="768237" lvl="1" indent="-384118" algn="l">
              <a:lnSpc>
                <a:spcPts val="4519"/>
              </a:lnSpc>
              <a:buFont typeface="Arial"/>
              <a:buChar char="•"/>
            </a:pPr>
            <a:r>
              <a:rPr lang="en-US" sz="3558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Transition from conventional multi-channel EEG toward scalable, wearable, and minimally intrusive solutions</a:t>
            </a:r>
          </a:p>
          <a:p>
            <a:pPr marL="768237" lvl="1" indent="-384118" algn="l">
              <a:lnSpc>
                <a:spcPts val="4519"/>
              </a:lnSpc>
              <a:buFont typeface="Arial"/>
              <a:buChar char="•"/>
            </a:pPr>
            <a:r>
              <a:rPr lang="en-US" sz="3558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Address inherent class imbalance in sleep stage distribution through advanced sampling and weighting strategies</a:t>
            </a:r>
          </a:p>
          <a:p>
            <a:pPr marL="768237" lvl="1" indent="-384118" algn="l">
              <a:lnSpc>
                <a:spcPts val="4519"/>
              </a:lnSpc>
              <a:buFont typeface="Arial"/>
              <a:buChar char="•"/>
            </a:pPr>
            <a:r>
              <a:rPr lang="en-US" sz="3558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Achieve competitive performance (~80% test accuracy) with a computationally lightweight architecture suitable for edge devices</a:t>
            </a:r>
          </a:p>
          <a:p>
            <a:pPr algn="l">
              <a:lnSpc>
                <a:spcPts val="2811"/>
              </a:lnSpc>
            </a:pPr>
            <a:endParaRPr lang="en-US" sz="3558">
              <a:solidFill>
                <a:srgbClr val="3A3D81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609490" y="865135"/>
            <a:ext cx="14026114" cy="139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8"/>
              </a:lnSpc>
            </a:pPr>
            <a:r>
              <a:rPr lang="en-US" sz="6224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PROJECT OBJECTIVES</a:t>
            </a:r>
          </a:p>
          <a:p>
            <a:pPr algn="ctr">
              <a:lnSpc>
                <a:spcPts val="5228"/>
              </a:lnSpc>
            </a:pPr>
            <a:endParaRPr lang="en-US" sz="6224">
              <a:solidFill>
                <a:srgbClr val="3A3D81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6180411" y="9026170"/>
            <a:ext cx="1078889" cy="654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06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w="9525" cap="flat">
            <a:solidFill>
              <a:srgbClr val="ACB5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177410" y="-1214117"/>
            <a:ext cx="3758453" cy="3758453"/>
          </a:xfrm>
          <a:custGeom>
            <a:avLst/>
            <a:gdLst/>
            <a:ahLst/>
            <a:cxnLst/>
            <a:rect l="l" t="t" r="r" b="b"/>
            <a:pathLst>
              <a:path w="3758453" h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1632185" y="7677423"/>
            <a:ext cx="3758453" cy="3758453"/>
          </a:xfrm>
          <a:custGeom>
            <a:avLst/>
            <a:gdLst/>
            <a:ahLst/>
            <a:cxnLst/>
            <a:rect l="l" t="t" r="r" b="b"/>
            <a:pathLst>
              <a:path w="3758453" h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-746708" y="8907715"/>
            <a:ext cx="3131075" cy="1810331"/>
          </a:xfrm>
          <a:custGeom>
            <a:avLst/>
            <a:gdLst/>
            <a:ahLst/>
            <a:cxnLst/>
            <a:rect l="l" t="t" r="r" b="b"/>
            <a:pathLst>
              <a:path w="3131075" h="1810331">
                <a:moveTo>
                  <a:pt x="0" y="0"/>
                </a:moveTo>
                <a:lnTo>
                  <a:pt x="3131075" y="0"/>
                </a:lnTo>
                <a:lnTo>
                  <a:pt x="3131075" y="1810331"/>
                </a:lnTo>
                <a:lnTo>
                  <a:pt x="0" y="18103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635604" y="-288678"/>
            <a:ext cx="2870265" cy="1317378"/>
          </a:xfrm>
          <a:custGeom>
            <a:avLst/>
            <a:gdLst/>
            <a:ahLst/>
            <a:cxnLst/>
            <a:rect l="l" t="t" r="r" b="b"/>
            <a:pathLst>
              <a:path w="2870265" h="1317378">
                <a:moveTo>
                  <a:pt x="0" y="0"/>
                </a:moveTo>
                <a:lnTo>
                  <a:pt x="2870265" y="0"/>
                </a:lnTo>
                <a:lnTo>
                  <a:pt x="2870265" y="1317378"/>
                </a:lnTo>
                <a:lnTo>
                  <a:pt x="0" y="1317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348028" y="370011"/>
            <a:ext cx="1778239" cy="1940539"/>
          </a:xfrm>
          <a:custGeom>
            <a:avLst/>
            <a:gdLst/>
            <a:ahLst/>
            <a:cxnLst/>
            <a:rect l="l" t="t" r="r" b="b"/>
            <a:pathLst>
              <a:path w="1778239" h="1940539">
                <a:moveTo>
                  <a:pt x="0" y="0"/>
                </a:moveTo>
                <a:lnTo>
                  <a:pt x="1778240" y="0"/>
                </a:lnTo>
                <a:lnTo>
                  <a:pt x="1778240" y="1940539"/>
                </a:lnTo>
                <a:lnTo>
                  <a:pt x="0" y="1940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87099">
            <a:off x="6698342" y="1836448"/>
            <a:ext cx="1862915" cy="2524879"/>
            <a:chOff x="0" y="0"/>
            <a:chExt cx="2483887" cy="3366506"/>
          </a:xfrm>
        </p:grpSpPr>
        <p:sp>
          <p:nvSpPr>
            <p:cNvPr id="3" name="Freeform 3"/>
            <p:cNvSpPr/>
            <p:nvPr/>
          </p:nvSpPr>
          <p:spPr>
            <a:xfrm>
              <a:off x="31479" y="436664"/>
              <a:ext cx="1851858" cy="2700091"/>
            </a:xfrm>
            <a:custGeom>
              <a:avLst/>
              <a:gdLst/>
              <a:ahLst/>
              <a:cxnLst/>
              <a:rect l="l" t="t" r="r" b="b"/>
              <a:pathLst>
                <a:path w="1851858" h="2700091">
                  <a:moveTo>
                    <a:pt x="0" y="0"/>
                  </a:moveTo>
                  <a:quadBezTo>
                    <a:pt x="2102159" y="547853"/>
                    <a:pt x="1818028" y="2700091"/>
                  </a:quadBezTo>
                </a:path>
              </a:pathLst>
            </a:custGeom>
            <a:ln w="63500" cap="flat">
              <a:solidFill>
                <a:srgbClr val="8D9193"/>
              </a:solidFill>
              <a:prstDash val="sysDot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" name="Group 4"/>
            <p:cNvGrpSpPr/>
            <p:nvPr/>
          </p:nvGrpSpPr>
          <p:grpSpPr>
            <a:xfrm rot="-10800000">
              <a:off x="1537047" y="2884562"/>
              <a:ext cx="624919" cy="481944"/>
              <a:chOff x="0" y="0"/>
              <a:chExt cx="922188" cy="7112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75415" y="89768"/>
                <a:ext cx="771359" cy="621432"/>
              </a:xfrm>
              <a:custGeom>
                <a:avLst/>
                <a:gdLst/>
                <a:ahLst/>
                <a:cxnLst/>
                <a:rect l="l" t="t" r="r" b="b"/>
                <a:pathLst>
                  <a:path w="771359" h="621432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9366E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56"/>
                  </a:lnSpc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 rot="-2991433">
            <a:off x="6748657" y="6055600"/>
            <a:ext cx="2227752" cy="765522"/>
            <a:chOff x="0" y="0"/>
            <a:chExt cx="2970337" cy="1020697"/>
          </a:xfrm>
        </p:grpSpPr>
        <p:sp>
          <p:nvSpPr>
            <p:cNvPr id="8" name="Freeform 8"/>
            <p:cNvSpPr/>
            <p:nvPr/>
          </p:nvSpPr>
          <p:spPr>
            <a:xfrm>
              <a:off x="20844" y="424106"/>
              <a:ext cx="2525812" cy="561497"/>
            </a:xfrm>
            <a:custGeom>
              <a:avLst/>
              <a:gdLst/>
              <a:ahLst/>
              <a:cxnLst/>
              <a:rect l="l" t="t" r="r" b="b"/>
              <a:pathLst>
                <a:path w="2525812" h="561497">
                  <a:moveTo>
                    <a:pt x="0" y="0"/>
                  </a:moveTo>
                  <a:quadBezTo>
                    <a:pt x="1521044" y="1122994"/>
                    <a:pt x="2525812" y="0"/>
                  </a:quadBezTo>
                </a:path>
              </a:pathLst>
            </a:custGeom>
            <a:ln w="70187" cap="flat">
              <a:solidFill>
                <a:srgbClr val="8D9193"/>
              </a:solidFill>
              <a:prstDash val="sysDot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" name="Group 9"/>
            <p:cNvGrpSpPr/>
            <p:nvPr/>
          </p:nvGrpSpPr>
          <p:grpSpPr>
            <a:xfrm rot="3079347">
              <a:off x="2201208" y="169720"/>
              <a:ext cx="690730" cy="532698"/>
              <a:chOff x="0" y="0"/>
              <a:chExt cx="922188" cy="7112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5415" y="89768"/>
                <a:ext cx="771359" cy="621432"/>
              </a:xfrm>
              <a:custGeom>
                <a:avLst/>
                <a:gdLst/>
                <a:ahLst/>
                <a:cxnLst/>
                <a:rect l="l" t="t" r="r" b="b"/>
                <a:pathLst>
                  <a:path w="771359" h="621432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38AEB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56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754820" y="4150795"/>
            <a:ext cx="5185998" cy="1821289"/>
            <a:chOff x="0" y="0"/>
            <a:chExt cx="1365860" cy="47968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65860" cy="479681"/>
            </a:xfrm>
            <a:custGeom>
              <a:avLst/>
              <a:gdLst/>
              <a:ahLst/>
              <a:cxnLst/>
              <a:rect l="l" t="t" r="r" b="b"/>
              <a:pathLst>
                <a:path w="1365860" h="479681">
                  <a:moveTo>
                    <a:pt x="149285" y="0"/>
                  </a:moveTo>
                  <a:lnTo>
                    <a:pt x="1216575" y="0"/>
                  </a:lnTo>
                  <a:cubicBezTo>
                    <a:pt x="1299022" y="0"/>
                    <a:pt x="1365860" y="66837"/>
                    <a:pt x="1365860" y="149285"/>
                  </a:cubicBezTo>
                  <a:lnTo>
                    <a:pt x="1365860" y="330396"/>
                  </a:lnTo>
                  <a:cubicBezTo>
                    <a:pt x="1365860" y="412844"/>
                    <a:pt x="1299022" y="479681"/>
                    <a:pt x="1216575" y="479681"/>
                  </a:cubicBezTo>
                  <a:lnTo>
                    <a:pt x="149285" y="479681"/>
                  </a:lnTo>
                  <a:cubicBezTo>
                    <a:pt x="66837" y="479681"/>
                    <a:pt x="0" y="412844"/>
                    <a:pt x="0" y="330396"/>
                  </a:cubicBezTo>
                  <a:lnTo>
                    <a:pt x="0" y="149285"/>
                  </a:lnTo>
                  <a:cubicBezTo>
                    <a:pt x="0" y="66837"/>
                    <a:pt x="66837" y="0"/>
                    <a:pt x="149285" y="0"/>
                  </a:cubicBezTo>
                  <a:close/>
                </a:path>
              </a:pathLst>
            </a:custGeom>
            <a:solidFill>
              <a:srgbClr val="FFBEC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365860" cy="5273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96370" y="4530659"/>
            <a:ext cx="1061561" cy="106156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667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257931" y="6909462"/>
            <a:ext cx="5185998" cy="1821289"/>
            <a:chOff x="0" y="0"/>
            <a:chExt cx="1365860" cy="47968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65860" cy="479681"/>
            </a:xfrm>
            <a:custGeom>
              <a:avLst/>
              <a:gdLst/>
              <a:ahLst/>
              <a:cxnLst/>
              <a:rect l="l" t="t" r="r" b="b"/>
              <a:pathLst>
                <a:path w="1365860" h="479681">
                  <a:moveTo>
                    <a:pt x="149285" y="0"/>
                  </a:moveTo>
                  <a:lnTo>
                    <a:pt x="1216575" y="0"/>
                  </a:lnTo>
                  <a:cubicBezTo>
                    <a:pt x="1299022" y="0"/>
                    <a:pt x="1365860" y="66837"/>
                    <a:pt x="1365860" y="149285"/>
                  </a:cubicBezTo>
                  <a:lnTo>
                    <a:pt x="1365860" y="330396"/>
                  </a:lnTo>
                  <a:cubicBezTo>
                    <a:pt x="1365860" y="412844"/>
                    <a:pt x="1299022" y="479681"/>
                    <a:pt x="1216575" y="479681"/>
                  </a:cubicBezTo>
                  <a:lnTo>
                    <a:pt x="149285" y="479681"/>
                  </a:lnTo>
                  <a:cubicBezTo>
                    <a:pt x="66837" y="479681"/>
                    <a:pt x="0" y="412844"/>
                    <a:pt x="0" y="330396"/>
                  </a:cubicBezTo>
                  <a:lnTo>
                    <a:pt x="0" y="149285"/>
                  </a:lnTo>
                  <a:cubicBezTo>
                    <a:pt x="0" y="66837"/>
                    <a:pt x="66837" y="0"/>
                    <a:pt x="149285" y="0"/>
                  </a:cubicBezTo>
                  <a:close/>
                </a:path>
              </a:pathLst>
            </a:custGeom>
            <a:solidFill>
              <a:srgbClr val="B5EBE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365860" cy="5273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519570" y="7289326"/>
            <a:ext cx="1061561" cy="1061561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AEB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82475" y="1046782"/>
            <a:ext cx="5185998" cy="1821289"/>
            <a:chOff x="0" y="0"/>
            <a:chExt cx="1365860" cy="47968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65860" cy="479681"/>
            </a:xfrm>
            <a:custGeom>
              <a:avLst/>
              <a:gdLst/>
              <a:ahLst/>
              <a:cxnLst/>
              <a:rect l="l" t="t" r="r" b="b"/>
              <a:pathLst>
                <a:path w="1365860" h="479681">
                  <a:moveTo>
                    <a:pt x="149285" y="0"/>
                  </a:moveTo>
                  <a:lnTo>
                    <a:pt x="1216575" y="0"/>
                  </a:lnTo>
                  <a:cubicBezTo>
                    <a:pt x="1299022" y="0"/>
                    <a:pt x="1365860" y="66837"/>
                    <a:pt x="1365860" y="149285"/>
                  </a:cubicBezTo>
                  <a:lnTo>
                    <a:pt x="1365860" y="330396"/>
                  </a:lnTo>
                  <a:cubicBezTo>
                    <a:pt x="1365860" y="412844"/>
                    <a:pt x="1299022" y="479681"/>
                    <a:pt x="1216575" y="479681"/>
                  </a:cubicBezTo>
                  <a:lnTo>
                    <a:pt x="149285" y="479681"/>
                  </a:lnTo>
                  <a:cubicBezTo>
                    <a:pt x="66837" y="479681"/>
                    <a:pt x="0" y="412844"/>
                    <a:pt x="0" y="330396"/>
                  </a:cubicBezTo>
                  <a:lnTo>
                    <a:pt x="0" y="149285"/>
                  </a:lnTo>
                  <a:cubicBezTo>
                    <a:pt x="0" y="66837"/>
                    <a:pt x="66837" y="0"/>
                    <a:pt x="149285" y="0"/>
                  </a:cubicBezTo>
                  <a:close/>
                </a:path>
              </a:pathLst>
            </a:custGeom>
            <a:solidFill>
              <a:srgbClr val="EAE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365860" cy="5273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292812" y="1898258"/>
            <a:ext cx="1872443" cy="2380286"/>
            <a:chOff x="0" y="0"/>
            <a:chExt cx="2496590" cy="3173715"/>
          </a:xfrm>
        </p:grpSpPr>
        <p:sp>
          <p:nvSpPr>
            <p:cNvPr id="28" name="Freeform 28"/>
            <p:cNvSpPr/>
            <p:nvPr/>
          </p:nvSpPr>
          <p:spPr>
            <a:xfrm>
              <a:off x="567627" y="431425"/>
              <a:ext cx="1896200" cy="2555025"/>
            </a:xfrm>
            <a:custGeom>
              <a:avLst/>
              <a:gdLst/>
              <a:ahLst/>
              <a:cxnLst/>
              <a:rect l="l" t="t" r="r" b="b"/>
              <a:pathLst>
                <a:path w="1896200" h="2555025">
                  <a:moveTo>
                    <a:pt x="1896200" y="0"/>
                  </a:moveTo>
                  <a:quadBezTo>
                    <a:pt x="98542" y="191355"/>
                    <a:pt x="0" y="2555025"/>
                  </a:quadBezTo>
                </a:path>
              </a:pathLst>
            </a:custGeom>
            <a:ln w="59435" cap="flat">
              <a:solidFill>
                <a:srgbClr val="8D9193"/>
              </a:solidFill>
              <a:prstDash val="sysDot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9" name="Group 29"/>
            <p:cNvGrpSpPr/>
            <p:nvPr/>
          </p:nvGrpSpPr>
          <p:grpSpPr>
            <a:xfrm rot="-10800000">
              <a:off x="268937" y="2722623"/>
              <a:ext cx="584916" cy="451093"/>
              <a:chOff x="0" y="0"/>
              <a:chExt cx="922188" cy="7112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5415" y="89768"/>
                <a:ext cx="771359" cy="621432"/>
              </a:xfrm>
              <a:custGeom>
                <a:avLst/>
                <a:gdLst/>
                <a:ahLst/>
                <a:cxnLst/>
                <a:rect l="l" t="t" r="r" b="b"/>
                <a:pathLst>
                  <a:path w="771359" h="621432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004AA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56"/>
                  </a:lnSpc>
                </a:pPr>
                <a:endParaRPr/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 rot="2898871">
            <a:off x="10958437" y="3408272"/>
            <a:ext cx="1992961" cy="2533492"/>
            <a:chOff x="0" y="0"/>
            <a:chExt cx="2657281" cy="3377989"/>
          </a:xfrm>
        </p:grpSpPr>
        <p:sp>
          <p:nvSpPr>
            <p:cNvPr id="33" name="Freeform 33"/>
            <p:cNvSpPr/>
            <p:nvPr/>
          </p:nvSpPr>
          <p:spPr>
            <a:xfrm>
              <a:off x="604162" y="459193"/>
              <a:ext cx="2018247" cy="2719477"/>
            </a:xfrm>
            <a:custGeom>
              <a:avLst/>
              <a:gdLst/>
              <a:ahLst/>
              <a:cxnLst/>
              <a:rect l="l" t="t" r="r" b="b"/>
              <a:pathLst>
                <a:path w="2018247" h="2719477">
                  <a:moveTo>
                    <a:pt x="2018247" y="0"/>
                  </a:moveTo>
                  <a:quadBezTo>
                    <a:pt x="104885" y="203672"/>
                    <a:pt x="0" y="2719477"/>
                  </a:quadBezTo>
                </a:path>
              </a:pathLst>
            </a:custGeom>
            <a:ln w="63261" cap="flat">
              <a:solidFill>
                <a:srgbClr val="8D9193"/>
              </a:solidFill>
              <a:prstDash val="sysDot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4" name="Group 34"/>
            <p:cNvGrpSpPr/>
            <p:nvPr/>
          </p:nvGrpSpPr>
          <p:grpSpPr>
            <a:xfrm rot="-10800000">
              <a:off x="286247" y="2897862"/>
              <a:ext cx="622563" cy="480127"/>
              <a:chOff x="0" y="0"/>
              <a:chExt cx="922188" cy="7112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5415" y="89768"/>
                <a:ext cx="771359" cy="621432"/>
              </a:xfrm>
              <a:custGeom>
                <a:avLst/>
                <a:gdLst/>
                <a:ahLst/>
                <a:cxnLst/>
                <a:rect l="l" t="t" r="r" b="b"/>
                <a:pathLst>
                  <a:path w="771359" h="621432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DDA707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56"/>
                  </a:lnSpc>
                </a:pPr>
                <a:endParaRPr/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12187886" y="3880599"/>
            <a:ext cx="5185998" cy="1821289"/>
            <a:chOff x="0" y="0"/>
            <a:chExt cx="1365860" cy="47968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365860" cy="479681"/>
            </a:xfrm>
            <a:custGeom>
              <a:avLst/>
              <a:gdLst/>
              <a:ahLst/>
              <a:cxnLst/>
              <a:rect l="l" t="t" r="r" b="b"/>
              <a:pathLst>
                <a:path w="1365860" h="479681">
                  <a:moveTo>
                    <a:pt x="149285" y="0"/>
                  </a:moveTo>
                  <a:lnTo>
                    <a:pt x="1216575" y="0"/>
                  </a:lnTo>
                  <a:cubicBezTo>
                    <a:pt x="1299022" y="0"/>
                    <a:pt x="1365860" y="66837"/>
                    <a:pt x="1365860" y="149285"/>
                  </a:cubicBezTo>
                  <a:lnTo>
                    <a:pt x="1365860" y="330396"/>
                  </a:lnTo>
                  <a:cubicBezTo>
                    <a:pt x="1365860" y="412844"/>
                    <a:pt x="1299022" y="479681"/>
                    <a:pt x="1216575" y="479681"/>
                  </a:cubicBezTo>
                  <a:lnTo>
                    <a:pt x="149285" y="479681"/>
                  </a:lnTo>
                  <a:cubicBezTo>
                    <a:pt x="66837" y="479681"/>
                    <a:pt x="0" y="412844"/>
                    <a:pt x="0" y="330396"/>
                  </a:cubicBezTo>
                  <a:lnTo>
                    <a:pt x="0" y="149285"/>
                  </a:lnTo>
                  <a:cubicBezTo>
                    <a:pt x="0" y="66837"/>
                    <a:pt x="66837" y="0"/>
                    <a:pt x="149285" y="0"/>
                  </a:cubicBezTo>
                  <a:close/>
                </a:path>
              </a:pathLst>
            </a:custGeom>
            <a:solidFill>
              <a:srgbClr val="FFE8A3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1365860" cy="5273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2324025" y="1426646"/>
            <a:ext cx="1061561" cy="1061561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366E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614884" y="4278544"/>
            <a:ext cx="1061561" cy="1061561"/>
            <a:chOff x="0" y="0"/>
            <a:chExt cx="812800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A70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2752626" y="4431507"/>
            <a:ext cx="759319" cy="67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05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0366116" y="6909462"/>
            <a:ext cx="5185998" cy="1821289"/>
            <a:chOff x="0" y="0"/>
            <a:chExt cx="1365860" cy="479681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365860" cy="479681"/>
            </a:xfrm>
            <a:custGeom>
              <a:avLst/>
              <a:gdLst/>
              <a:ahLst/>
              <a:cxnLst/>
              <a:rect l="l" t="t" r="r" b="b"/>
              <a:pathLst>
                <a:path w="1365860" h="479681">
                  <a:moveTo>
                    <a:pt x="149285" y="0"/>
                  </a:moveTo>
                  <a:lnTo>
                    <a:pt x="1216575" y="0"/>
                  </a:lnTo>
                  <a:cubicBezTo>
                    <a:pt x="1299022" y="0"/>
                    <a:pt x="1365860" y="66837"/>
                    <a:pt x="1365860" y="149285"/>
                  </a:cubicBezTo>
                  <a:lnTo>
                    <a:pt x="1365860" y="330396"/>
                  </a:lnTo>
                  <a:cubicBezTo>
                    <a:pt x="1365860" y="412844"/>
                    <a:pt x="1299022" y="479681"/>
                    <a:pt x="1216575" y="479681"/>
                  </a:cubicBezTo>
                  <a:lnTo>
                    <a:pt x="149285" y="479681"/>
                  </a:lnTo>
                  <a:cubicBezTo>
                    <a:pt x="66837" y="479681"/>
                    <a:pt x="0" y="412844"/>
                    <a:pt x="0" y="330396"/>
                  </a:cubicBezTo>
                  <a:lnTo>
                    <a:pt x="0" y="149285"/>
                  </a:lnTo>
                  <a:cubicBezTo>
                    <a:pt x="0" y="66837"/>
                    <a:pt x="66837" y="0"/>
                    <a:pt x="149285" y="0"/>
                  </a:cubicBezTo>
                  <a:close/>
                </a:path>
              </a:pathLst>
            </a:custGeom>
            <a:solidFill>
              <a:srgbClr val="D9F4C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1365860" cy="5273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507777" y="7233339"/>
            <a:ext cx="1061561" cy="1061561"/>
            <a:chOff x="0" y="0"/>
            <a:chExt cx="812800" cy="8128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CA62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334112" y="4683621"/>
            <a:ext cx="759319" cy="67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368643" y="4402453"/>
            <a:ext cx="3179291" cy="104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7"/>
              </a:lnSpc>
              <a:spcBef>
                <a:spcPct val="0"/>
              </a:spcBef>
            </a:pPr>
            <a:r>
              <a:rPr lang="en-US" sz="3005" b="1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Signal Preprocessing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657312" y="7442288"/>
            <a:ext cx="759319" cy="67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770832" y="7313239"/>
            <a:ext cx="4170690" cy="966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4"/>
              </a:lnSpc>
            </a:pPr>
            <a:r>
              <a:rPr lang="en-US" sz="2839" b="1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Model</a:t>
            </a:r>
          </a:p>
          <a:p>
            <a:pPr marL="0" lvl="0" indent="0" algn="l">
              <a:lnSpc>
                <a:spcPts val="3974"/>
              </a:lnSpc>
              <a:spcBef>
                <a:spcPct val="0"/>
              </a:spcBef>
            </a:pPr>
            <a:r>
              <a:rPr lang="en-US" sz="2839" b="1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Architecture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461766" y="1579608"/>
            <a:ext cx="759319" cy="67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623031" y="1416412"/>
            <a:ext cx="3649848" cy="988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27"/>
              </a:lnSpc>
              <a:spcBef>
                <a:spcPct val="0"/>
              </a:spcBef>
            </a:pPr>
            <a:r>
              <a:rPr lang="en-US" sz="2876" b="1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Data reading &amp; labeling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645519" y="7386301"/>
            <a:ext cx="759319" cy="67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894352" y="4501448"/>
            <a:ext cx="2627064" cy="540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01"/>
              </a:lnSpc>
              <a:spcBef>
                <a:spcPct val="0"/>
              </a:spcBef>
            </a:pPr>
            <a:r>
              <a:rPr lang="en-US" sz="3144" b="1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Training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328541" y="4544172"/>
            <a:ext cx="5630917" cy="885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93"/>
              </a:lnSpc>
              <a:spcBef>
                <a:spcPct val="0"/>
              </a:spcBef>
            </a:pPr>
            <a:r>
              <a:rPr lang="en-US" sz="6409" u="none" strike="noStrike">
                <a:solidFill>
                  <a:srgbClr val="1C1C1A"/>
                </a:solidFill>
                <a:latin typeface="Lilita One"/>
                <a:ea typeface="Lilita One"/>
                <a:cs typeface="Lilita One"/>
                <a:sym typeface="Lilita One"/>
              </a:rPr>
              <a:t>pipeline</a:t>
            </a:r>
          </a:p>
        </p:txBody>
      </p:sp>
      <p:grpSp>
        <p:nvGrpSpPr>
          <p:cNvPr id="62" name="Group 62"/>
          <p:cNvGrpSpPr/>
          <p:nvPr/>
        </p:nvGrpSpPr>
        <p:grpSpPr>
          <a:xfrm rot="-748405">
            <a:off x="5751923" y="4365189"/>
            <a:ext cx="2057316" cy="1055333"/>
            <a:chOff x="0" y="0"/>
            <a:chExt cx="2743089" cy="1407111"/>
          </a:xfrm>
        </p:grpSpPr>
        <p:sp>
          <p:nvSpPr>
            <p:cNvPr id="63" name="Freeform 63"/>
            <p:cNvSpPr/>
            <p:nvPr/>
          </p:nvSpPr>
          <p:spPr>
            <a:xfrm>
              <a:off x="24263" y="297706"/>
              <a:ext cx="2321887" cy="801820"/>
            </a:xfrm>
            <a:custGeom>
              <a:avLst/>
              <a:gdLst/>
              <a:ahLst/>
              <a:cxnLst/>
              <a:rect l="l" t="t" r="r" b="b"/>
              <a:pathLst>
                <a:path w="2321887" h="801820">
                  <a:moveTo>
                    <a:pt x="0" y="256762"/>
                  </a:moveTo>
                  <a:quadBezTo>
                    <a:pt x="1640855" y="-453736"/>
                    <a:pt x="2321887" y="801820"/>
                  </a:quadBezTo>
                </a:path>
              </a:pathLst>
            </a:custGeom>
            <a:ln w="63500" cap="flat">
              <a:solidFill>
                <a:srgbClr val="8D9193"/>
              </a:solidFill>
              <a:prstDash val="sysDot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4" name="Group 64"/>
            <p:cNvGrpSpPr/>
            <p:nvPr/>
          </p:nvGrpSpPr>
          <p:grpSpPr>
            <a:xfrm rot="8100000">
              <a:off x="2039294" y="774804"/>
              <a:ext cx="624919" cy="481944"/>
              <a:chOff x="0" y="0"/>
              <a:chExt cx="922188" cy="71120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5415" y="89768"/>
                <a:ext cx="771359" cy="621432"/>
              </a:xfrm>
              <a:custGeom>
                <a:avLst/>
                <a:gdLst/>
                <a:ahLst/>
                <a:cxnLst/>
                <a:rect l="l" t="t" r="r" b="b"/>
                <a:pathLst>
                  <a:path w="771359" h="621432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E4667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56"/>
                  </a:lnSpc>
                </a:pPr>
                <a:endParaRPr/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10755523" y="785867"/>
            <a:ext cx="5185998" cy="1821289"/>
            <a:chOff x="0" y="0"/>
            <a:chExt cx="1365860" cy="479681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365860" cy="479681"/>
            </a:xfrm>
            <a:custGeom>
              <a:avLst/>
              <a:gdLst/>
              <a:ahLst/>
              <a:cxnLst/>
              <a:rect l="l" t="t" r="r" b="b"/>
              <a:pathLst>
                <a:path w="1365860" h="479681">
                  <a:moveTo>
                    <a:pt x="149285" y="0"/>
                  </a:moveTo>
                  <a:lnTo>
                    <a:pt x="1216575" y="0"/>
                  </a:lnTo>
                  <a:cubicBezTo>
                    <a:pt x="1299022" y="0"/>
                    <a:pt x="1365860" y="66837"/>
                    <a:pt x="1365860" y="149285"/>
                  </a:cubicBezTo>
                  <a:lnTo>
                    <a:pt x="1365860" y="330396"/>
                  </a:lnTo>
                  <a:cubicBezTo>
                    <a:pt x="1365860" y="412844"/>
                    <a:pt x="1299022" y="479681"/>
                    <a:pt x="1216575" y="479681"/>
                  </a:cubicBezTo>
                  <a:lnTo>
                    <a:pt x="149285" y="479681"/>
                  </a:lnTo>
                  <a:cubicBezTo>
                    <a:pt x="66837" y="479681"/>
                    <a:pt x="0" y="412844"/>
                    <a:pt x="0" y="330396"/>
                  </a:cubicBezTo>
                  <a:lnTo>
                    <a:pt x="0" y="149285"/>
                  </a:lnTo>
                  <a:cubicBezTo>
                    <a:pt x="0" y="66837"/>
                    <a:pt x="66837" y="0"/>
                    <a:pt x="149285" y="0"/>
                  </a:cubicBezTo>
                  <a:close/>
                </a:path>
              </a:pathLst>
            </a:custGeom>
            <a:solidFill>
              <a:srgbClr val="C2DC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47625"/>
              <a:ext cx="1365860" cy="5273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12396482" y="1443492"/>
            <a:ext cx="2542211" cy="513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22"/>
              </a:lnSpc>
              <a:spcBef>
                <a:spcPct val="0"/>
              </a:spcBef>
            </a:pPr>
            <a:r>
              <a:rPr lang="en-US" sz="3016" b="1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Evaluation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11182521" y="1183812"/>
            <a:ext cx="1061561" cy="1061561"/>
            <a:chOff x="0" y="0"/>
            <a:chExt cx="812800" cy="8128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11320263" y="1336774"/>
            <a:ext cx="759319" cy="67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06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3958289" y="7505609"/>
            <a:ext cx="2542211" cy="513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22"/>
              </a:lnSpc>
              <a:spcBef>
                <a:spcPct val="0"/>
              </a:spcBef>
            </a:pPr>
            <a:r>
              <a:rPr lang="en-US" sz="3016" b="1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Preparation</a:t>
            </a:r>
          </a:p>
        </p:txBody>
      </p:sp>
      <p:grpSp>
        <p:nvGrpSpPr>
          <p:cNvPr id="76" name="Group 76"/>
          <p:cNvGrpSpPr/>
          <p:nvPr/>
        </p:nvGrpSpPr>
        <p:grpSpPr>
          <a:xfrm rot="10634144">
            <a:off x="9203799" y="5970899"/>
            <a:ext cx="1862915" cy="2524879"/>
            <a:chOff x="0" y="0"/>
            <a:chExt cx="2483887" cy="3366506"/>
          </a:xfrm>
        </p:grpSpPr>
        <p:sp>
          <p:nvSpPr>
            <p:cNvPr id="77" name="Freeform 77"/>
            <p:cNvSpPr/>
            <p:nvPr/>
          </p:nvSpPr>
          <p:spPr>
            <a:xfrm>
              <a:off x="31479" y="436664"/>
              <a:ext cx="1851858" cy="2700091"/>
            </a:xfrm>
            <a:custGeom>
              <a:avLst/>
              <a:gdLst/>
              <a:ahLst/>
              <a:cxnLst/>
              <a:rect l="l" t="t" r="r" b="b"/>
              <a:pathLst>
                <a:path w="1851858" h="2700091">
                  <a:moveTo>
                    <a:pt x="0" y="0"/>
                  </a:moveTo>
                  <a:quadBezTo>
                    <a:pt x="2102159" y="547853"/>
                    <a:pt x="1818028" y="2700091"/>
                  </a:quadBezTo>
                </a:path>
              </a:pathLst>
            </a:custGeom>
            <a:ln w="63500" cap="flat">
              <a:solidFill>
                <a:srgbClr val="8D9193"/>
              </a:solidFill>
              <a:prstDash val="sysDot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8" name="Group 78"/>
            <p:cNvGrpSpPr/>
            <p:nvPr/>
          </p:nvGrpSpPr>
          <p:grpSpPr>
            <a:xfrm rot="-10800000">
              <a:off x="1537047" y="2884562"/>
              <a:ext cx="624919" cy="481944"/>
              <a:chOff x="0" y="0"/>
              <a:chExt cx="922188" cy="711200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75415" y="89768"/>
                <a:ext cx="771359" cy="621432"/>
              </a:xfrm>
              <a:custGeom>
                <a:avLst/>
                <a:gdLst/>
                <a:ahLst/>
                <a:cxnLst/>
                <a:rect l="l" t="t" r="r" b="b"/>
                <a:pathLst>
                  <a:path w="771359" h="621432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4CA62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56"/>
                  </a:lnSpc>
                </a:pPr>
                <a:endParaRPr/>
              </a:p>
            </p:txBody>
          </p:sp>
        </p:grpSp>
      </p:grpSp>
      <p:sp>
        <p:nvSpPr>
          <p:cNvPr id="81" name="TextBox 81"/>
          <p:cNvSpPr txBox="1"/>
          <p:nvPr/>
        </p:nvSpPr>
        <p:spPr>
          <a:xfrm>
            <a:off x="16180411" y="9026170"/>
            <a:ext cx="1078889" cy="654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07</a:t>
            </a:r>
          </a:p>
        </p:txBody>
      </p:sp>
      <p:sp>
        <p:nvSpPr>
          <p:cNvPr id="82" name="AutoShape 82"/>
          <p:cNvSpPr/>
          <p:nvPr/>
        </p:nvSpPr>
        <p:spPr>
          <a:xfrm>
            <a:off x="1613996" y="9486173"/>
            <a:ext cx="14907420" cy="0"/>
          </a:xfrm>
          <a:prstGeom prst="line">
            <a:avLst/>
          </a:prstGeom>
          <a:ln w="9525" cap="flat">
            <a:solidFill>
              <a:srgbClr val="ACB5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28985" y="599769"/>
            <a:ext cx="15330315" cy="3507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88"/>
              </a:lnSpc>
            </a:pPr>
            <a:r>
              <a:rPr lang="en-US" sz="10224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DATA READING</a:t>
            </a:r>
          </a:p>
          <a:p>
            <a:pPr algn="ctr">
              <a:lnSpc>
                <a:spcPts val="9008"/>
              </a:lnSpc>
            </a:pPr>
            <a:endParaRPr lang="en-US" sz="10224">
              <a:solidFill>
                <a:srgbClr val="3A3D81"/>
              </a:solidFill>
              <a:latin typeface="Lilita One"/>
              <a:ea typeface="Lilita One"/>
              <a:cs typeface="Lilita One"/>
              <a:sym typeface="Lilita One"/>
            </a:endParaRPr>
          </a:p>
          <a:p>
            <a:pPr algn="ctr">
              <a:lnSpc>
                <a:spcPts val="9008"/>
              </a:lnSpc>
            </a:pPr>
            <a:endParaRPr lang="en-US" sz="10224">
              <a:solidFill>
                <a:srgbClr val="3A3D81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w="9525" cap="flat">
            <a:solidFill>
              <a:srgbClr val="ACB5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177410" y="-1214117"/>
            <a:ext cx="3758453" cy="3758453"/>
          </a:xfrm>
          <a:custGeom>
            <a:avLst/>
            <a:gdLst/>
            <a:ahLst/>
            <a:cxnLst/>
            <a:rect l="l" t="t" r="r" b="b"/>
            <a:pathLst>
              <a:path w="3758453" h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632185" y="7677423"/>
            <a:ext cx="3758453" cy="3758453"/>
          </a:xfrm>
          <a:custGeom>
            <a:avLst/>
            <a:gdLst/>
            <a:ahLst/>
            <a:cxnLst/>
            <a:rect l="l" t="t" r="r" b="b"/>
            <a:pathLst>
              <a:path w="3758453" h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746708" y="8907715"/>
            <a:ext cx="3131075" cy="1810331"/>
          </a:xfrm>
          <a:custGeom>
            <a:avLst/>
            <a:gdLst/>
            <a:ahLst/>
            <a:cxnLst/>
            <a:rect l="l" t="t" r="r" b="b"/>
            <a:pathLst>
              <a:path w="3131075" h="1810331">
                <a:moveTo>
                  <a:pt x="0" y="0"/>
                </a:moveTo>
                <a:lnTo>
                  <a:pt x="3131075" y="0"/>
                </a:lnTo>
                <a:lnTo>
                  <a:pt x="3131075" y="1810331"/>
                </a:lnTo>
                <a:lnTo>
                  <a:pt x="0" y="18103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824167" y="-417000"/>
            <a:ext cx="2870265" cy="1317378"/>
          </a:xfrm>
          <a:custGeom>
            <a:avLst/>
            <a:gdLst/>
            <a:ahLst/>
            <a:cxnLst/>
            <a:rect l="l" t="t" r="r" b="b"/>
            <a:pathLst>
              <a:path w="2870265" h="1317378">
                <a:moveTo>
                  <a:pt x="0" y="0"/>
                </a:moveTo>
                <a:lnTo>
                  <a:pt x="2870266" y="0"/>
                </a:lnTo>
                <a:lnTo>
                  <a:pt x="2870266" y="1317379"/>
                </a:lnTo>
                <a:lnTo>
                  <a:pt x="0" y="13173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0" y="241689"/>
            <a:ext cx="1778239" cy="1940539"/>
          </a:xfrm>
          <a:custGeom>
            <a:avLst/>
            <a:gdLst/>
            <a:ahLst/>
            <a:cxnLst/>
            <a:rect l="l" t="t" r="r" b="b"/>
            <a:pathLst>
              <a:path w="1778239" h="1940539">
                <a:moveTo>
                  <a:pt x="0" y="0"/>
                </a:moveTo>
                <a:lnTo>
                  <a:pt x="1778239" y="0"/>
                </a:lnTo>
                <a:lnTo>
                  <a:pt x="1778239" y="1940539"/>
                </a:lnTo>
                <a:lnTo>
                  <a:pt x="0" y="1940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028700" y="2120577"/>
            <a:ext cx="9789532" cy="7038202"/>
          </a:xfrm>
          <a:custGeom>
            <a:avLst/>
            <a:gdLst/>
            <a:ahLst/>
            <a:cxnLst/>
            <a:rect l="l" t="t" r="r" b="b"/>
            <a:pathLst>
              <a:path w="9789532" h="7038202">
                <a:moveTo>
                  <a:pt x="0" y="0"/>
                </a:moveTo>
                <a:lnTo>
                  <a:pt x="9789532" y="0"/>
                </a:lnTo>
                <a:lnTo>
                  <a:pt x="9789532" y="7038203"/>
                </a:lnTo>
                <a:lnTo>
                  <a:pt x="0" y="70382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8195" r="-388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1514132" y="2182228"/>
            <a:ext cx="5745168" cy="7095234"/>
          </a:xfrm>
          <a:custGeom>
            <a:avLst/>
            <a:gdLst/>
            <a:ahLst/>
            <a:cxnLst/>
            <a:rect l="l" t="t" r="r" b="b"/>
            <a:pathLst>
              <a:path w="5745168" h="7095234">
                <a:moveTo>
                  <a:pt x="0" y="0"/>
                </a:moveTo>
                <a:lnTo>
                  <a:pt x="5745168" y="0"/>
                </a:lnTo>
                <a:lnTo>
                  <a:pt x="5745168" y="7095234"/>
                </a:lnTo>
                <a:lnTo>
                  <a:pt x="0" y="70952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6180411" y="9026170"/>
            <a:ext cx="1078889" cy="654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07865" y="843920"/>
            <a:ext cx="15672270" cy="121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88"/>
              </a:lnSpc>
            </a:pPr>
            <a:r>
              <a:rPr lang="en-US" sz="10224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LABELING</a:t>
            </a:r>
          </a:p>
        </p:txBody>
      </p:sp>
      <p:sp>
        <p:nvSpPr>
          <p:cNvPr id="3" name="AutoShape 3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w="9525" cap="flat">
            <a:solidFill>
              <a:srgbClr val="ACB5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177410" y="-1214117"/>
            <a:ext cx="3758453" cy="3758453"/>
          </a:xfrm>
          <a:custGeom>
            <a:avLst/>
            <a:gdLst/>
            <a:ahLst/>
            <a:cxnLst/>
            <a:rect l="l" t="t" r="r" b="b"/>
            <a:pathLst>
              <a:path w="3758453" h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632185" y="7677423"/>
            <a:ext cx="3758453" cy="3758453"/>
          </a:xfrm>
          <a:custGeom>
            <a:avLst/>
            <a:gdLst/>
            <a:ahLst/>
            <a:cxnLst/>
            <a:rect l="l" t="t" r="r" b="b"/>
            <a:pathLst>
              <a:path w="3758453" h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746708" y="8907715"/>
            <a:ext cx="3131075" cy="1810331"/>
          </a:xfrm>
          <a:custGeom>
            <a:avLst/>
            <a:gdLst/>
            <a:ahLst/>
            <a:cxnLst/>
            <a:rect l="l" t="t" r="r" b="b"/>
            <a:pathLst>
              <a:path w="3131075" h="1810331">
                <a:moveTo>
                  <a:pt x="0" y="0"/>
                </a:moveTo>
                <a:lnTo>
                  <a:pt x="3131075" y="0"/>
                </a:lnTo>
                <a:lnTo>
                  <a:pt x="3131075" y="1810331"/>
                </a:lnTo>
                <a:lnTo>
                  <a:pt x="0" y="18103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6394280" y="-39712"/>
            <a:ext cx="2870265" cy="1317378"/>
          </a:xfrm>
          <a:custGeom>
            <a:avLst/>
            <a:gdLst/>
            <a:ahLst/>
            <a:cxnLst/>
            <a:rect l="l" t="t" r="r" b="b"/>
            <a:pathLst>
              <a:path w="2870265" h="1317378">
                <a:moveTo>
                  <a:pt x="0" y="0"/>
                </a:moveTo>
                <a:lnTo>
                  <a:pt x="2870265" y="0"/>
                </a:lnTo>
                <a:lnTo>
                  <a:pt x="2870265" y="1317378"/>
                </a:lnTo>
                <a:lnTo>
                  <a:pt x="0" y="1317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35615" y="370011"/>
            <a:ext cx="1778239" cy="1940539"/>
          </a:xfrm>
          <a:custGeom>
            <a:avLst/>
            <a:gdLst/>
            <a:ahLst/>
            <a:cxnLst/>
            <a:rect l="l" t="t" r="r" b="b"/>
            <a:pathLst>
              <a:path w="1778239" h="1940539">
                <a:moveTo>
                  <a:pt x="0" y="0"/>
                </a:moveTo>
                <a:lnTo>
                  <a:pt x="1778240" y="0"/>
                </a:lnTo>
                <a:lnTo>
                  <a:pt x="1778240" y="1940539"/>
                </a:lnTo>
                <a:lnTo>
                  <a:pt x="0" y="1940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4580744" y="2146645"/>
            <a:ext cx="9126513" cy="7130818"/>
          </a:xfrm>
          <a:custGeom>
            <a:avLst/>
            <a:gdLst/>
            <a:ahLst/>
            <a:cxnLst/>
            <a:rect l="l" t="t" r="r" b="b"/>
            <a:pathLst>
              <a:path w="9126513" h="7130818">
                <a:moveTo>
                  <a:pt x="0" y="0"/>
                </a:moveTo>
                <a:lnTo>
                  <a:pt x="9126512" y="0"/>
                </a:lnTo>
                <a:lnTo>
                  <a:pt x="9126512" y="7130817"/>
                </a:lnTo>
                <a:lnTo>
                  <a:pt x="0" y="71308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6180411" y="9026170"/>
            <a:ext cx="1078889" cy="654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24516">
            <a:off x="-675804" y="6755280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1"/>
                </a:lnTo>
                <a:lnTo>
                  <a:pt x="0" y="20987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092187">
            <a:off x="6924851" y="-300121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1092187">
            <a:off x="16450498" y="991884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w="9525" cap="flat">
            <a:solidFill>
              <a:srgbClr val="ACB5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841596"/>
            <a:ext cx="16575087" cy="1233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40"/>
              </a:lnSpc>
            </a:pPr>
            <a:r>
              <a:rPr lang="en-US" sz="10523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SIGNAL PREPROCESSING</a:t>
            </a:r>
          </a:p>
        </p:txBody>
      </p:sp>
      <p:sp>
        <p:nvSpPr>
          <p:cNvPr id="7" name="Freeform 7"/>
          <p:cNvSpPr/>
          <p:nvPr/>
        </p:nvSpPr>
        <p:spPr>
          <a:xfrm>
            <a:off x="738486" y="2973178"/>
            <a:ext cx="1020246" cy="944935"/>
          </a:xfrm>
          <a:custGeom>
            <a:avLst/>
            <a:gdLst/>
            <a:ahLst/>
            <a:cxnLst/>
            <a:rect l="l" t="t" r="r" b="b"/>
            <a:pathLst>
              <a:path w="1020246" h="944935">
                <a:moveTo>
                  <a:pt x="0" y="0"/>
                </a:moveTo>
                <a:lnTo>
                  <a:pt x="1020246" y="0"/>
                </a:lnTo>
                <a:lnTo>
                  <a:pt x="1020246" y="944935"/>
                </a:lnTo>
                <a:lnTo>
                  <a:pt x="0" y="9449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6180411" y="9026170"/>
            <a:ext cx="1078889" cy="654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01789" y="4028676"/>
            <a:ext cx="7557511" cy="1176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5361" lvl="1" indent="-332681" algn="l">
              <a:lnSpc>
                <a:spcPts val="4561"/>
              </a:lnSpc>
              <a:buFont typeface="Arial"/>
              <a:buChar char="•"/>
            </a:pPr>
            <a:r>
              <a:rPr lang="en-US" sz="3081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Left EOG channel</a:t>
            </a:r>
          </a:p>
          <a:p>
            <a:pPr algn="l">
              <a:lnSpc>
                <a:spcPts val="4561"/>
              </a:lnSpc>
            </a:pPr>
            <a:endParaRPr lang="en-US" sz="3081">
              <a:solidFill>
                <a:srgbClr val="3A3D81"/>
              </a:solidFill>
              <a:latin typeface="Jet"/>
              <a:ea typeface="Jet"/>
              <a:cs typeface="Jet"/>
              <a:sym typeface="Je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418421" y="2906850"/>
            <a:ext cx="7185366" cy="150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25"/>
              </a:lnSpc>
            </a:pPr>
            <a:r>
              <a:rPr lang="en-US" sz="53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CHANNEL SELECTION:</a:t>
            </a:r>
          </a:p>
          <a:p>
            <a:pPr algn="ctr">
              <a:lnSpc>
                <a:spcPts val="4305"/>
              </a:lnSpc>
              <a:spcBef>
                <a:spcPct val="0"/>
              </a:spcBef>
            </a:pPr>
            <a:endParaRPr lang="en-US" sz="5375">
              <a:solidFill>
                <a:srgbClr val="3A3D81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9501517" y="3021150"/>
            <a:ext cx="1020246" cy="944935"/>
          </a:xfrm>
          <a:custGeom>
            <a:avLst/>
            <a:gdLst/>
            <a:ahLst/>
            <a:cxnLst/>
            <a:rect l="l" t="t" r="r" b="b"/>
            <a:pathLst>
              <a:path w="1020246" h="944935">
                <a:moveTo>
                  <a:pt x="0" y="0"/>
                </a:moveTo>
                <a:lnTo>
                  <a:pt x="1020246" y="0"/>
                </a:lnTo>
                <a:lnTo>
                  <a:pt x="1020246" y="944935"/>
                </a:lnTo>
                <a:lnTo>
                  <a:pt x="0" y="9449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2034692" y="2906850"/>
            <a:ext cx="3838072" cy="963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5"/>
              </a:lnSpc>
              <a:spcBef>
                <a:spcPct val="0"/>
              </a:spcBef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FILTERING: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8486" y="3908588"/>
            <a:ext cx="7739850" cy="207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6"/>
              </a:lnSpc>
            </a:pPr>
            <a:endParaRPr/>
          </a:p>
          <a:p>
            <a:pPr marL="681414" lvl="1" indent="-340707" algn="l">
              <a:lnSpc>
                <a:spcPts val="3156"/>
              </a:lnSpc>
              <a:buFont typeface="Arial"/>
              <a:buChar char="•"/>
            </a:pPr>
            <a:r>
              <a:rPr lang="en-US" sz="3156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Band-pass filter (0.3 – 30 Hz) applied to EOG signals.</a:t>
            </a:r>
          </a:p>
          <a:p>
            <a:pPr algn="l">
              <a:lnSpc>
                <a:spcPts val="3156"/>
              </a:lnSpc>
            </a:pPr>
            <a:endParaRPr lang="en-US" sz="3156">
              <a:solidFill>
                <a:srgbClr val="3A3D81"/>
              </a:solidFill>
              <a:latin typeface="Jet"/>
              <a:ea typeface="Jet"/>
              <a:cs typeface="Jet"/>
              <a:sym typeface="Jet"/>
            </a:endParaRPr>
          </a:p>
          <a:p>
            <a:pPr algn="l">
              <a:lnSpc>
                <a:spcPts val="3156"/>
              </a:lnSpc>
            </a:pPr>
            <a:endParaRPr lang="en-US" sz="3156">
              <a:solidFill>
                <a:srgbClr val="3A3D81"/>
              </a:solidFill>
              <a:latin typeface="Jet"/>
              <a:ea typeface="Jet"/>
              <a:cs typeface="Jet"/>
              <a:sym typeface="Je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94180" y="6835082"/>
            <a:ext cx="7557511" cy="2319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5361" lvl="1" indent="-332681" algn="l">
              <a:lnSpc>
                <a:spcPts val="4561"/>
              </a:lnSpc>
              <a:buFont typeface="Arial"/>
              <a:buChar char="•"/>
            </a:pPr>
            <a:r>
              <a:rPr lang="en-US" sz="3081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Z-score normalization</a:t>
            </a:r>
          </a:p>
          <a:p>
            <a:pPr marL="665361" lvl="1" indent="-332681" algn="l">
              <a:lnSpc>
                <a:spcPts val="4561"/>
              </a:lnSpc>
              <a:buFont typeface="Arial"/>
              <a:buChar char="•"/>
            </a:pPr>
            <a:r>
              <a:rPr lang="en-US" sz="3081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Ensures stable training across different participants</a:t>
            </a:r>
          </a:p>
          <a:p>
            <a:pPr algn="l">
              <a:lnSpc>
                <a:spcPts val="4561"/>
              </a:lnSpc>
            </a:pPr>
            <a:endParaRPr lang="en-US" sz="3081">
              <a:solidFill>
                <a:srgbClr val="3A3D81"/>
              </a:solidFill>
              <a:latin typeface="Jet"/>
              <a:ea typeface="Jet"/>
              <a:cs typeface="Jet"/>
              <a:sym typeface="Je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92971" y="5703001"/>
            <a:ext cx="7185366" cy="150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25"/>
              </a:lnSpc>
            </a:pPr>
            <a:r>
              <a:rPr lang="en-US" sz="53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NORMALIZATION:</a:t>
            </a:r>
          </a:p>
          <a:p>
            <a:pPr algn="ctr">
              <a:lnSpc>
                <a:spcPts val="4305"/>
              </a:lnSpc>
              <a:spcBef>
                <a:spcPct val="0"/>
              </a:spcBef>
            </a:pPr>
            <a:endParaRPr lang="en-US" sz="5375">
              <a:solidFill>
                <a:srgbClr val="3A3D81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593909" y="5827556"/>
            <a:ext cx="1020246" cy="944935"/>
          </a:xfrm>
          <a:custGeom>
            <a:avLst/>
            <a:gdLst/>
            <a:ahLst/>
            <a:cxnLst/>
            <a:rect l="l" t="t" r="r" b="b"/>
            <a:pathLst>
              <a:path w="1020246" h="944935">
                <a:moveTo>
                  <a:pt x="0" y="0"/>
                </a:moveTo>
                <a:lnTo>
                  <a:pt x="1020245" y="0"/>
                </a:lnTo>
                <a:lnTo>
                  <a:pt x="1020245" y="944935"/>
                </a:lnTo>
                <a:lnTo>
                  <a:pt x="0" y="9449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9801924" y="6426974"/>
            <a:ext cx="7557511" cy="2890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5361" lvl="1" indent="-332681" algn="l">
              <a:lnSpc>
                <a:spcPts val="4561"/>
              </a:lnSpc>
              <a:buFont typeface="Arial"/>
              <a:buChar char="•"/>
            </a:pPr>
            <a:r>
              <a:rPr lang="en-US" sz="3081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into 30 seconds to match and align the annotations, given a sampling rate of 256 Hz, each epoch contains 30*256 data points</a:t>
            </a:r>
          </a:p>
          <a:p>
            <a:pPr algn="l">
              <a:lnSpc>
                <a:spcPts val="4561"/>
              </a:lnSpc>
            </a:pPr>
            <a:endParaRPr lang="en-US" sz="3081">
              <a:solidFill>
                <a:srgbClr val="3A3D81"/>
              </a:solidFill>
              <a:latin typeface="Jet"/>
              <a:ea typeface="Jet"/>
              <a:cs typeface="Jet"/>
              <a:sym typeface="Jet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932774" y="5305148"/>
            <a:ext cx="7185366" cy="930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25"/>
              </a:lnSpc>
              <a:spcBef>
                <a:spcPct val="0"/>
              </a:spcBef>
            </a:pPr>
            <a:r>
              <a:rPr lang="en-US" sz="53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EPOCHING:</a:t>
            </a:r>
          </a:p>
        </p:txBody>
      </p:sp>
      <p:sp>
        <p:nvSpPr>
          <p:cNvPr id="19" name="Freeform 19"/>
          <p:cNvSpPr/>
          <p:nvPr/>
        </p:nvSpPr>
        <p:spPr>
          <a:xfrm>
            <a:off x="9601653" y="5419448"/>
            <a:ext cx="1020246" cy="944935"/>
          </a:xfrm>
          <a:custGeom>
            <a:avLst/>
            <a:gdLst/>
            <a:ahLst/>
            <a:cxnLst/>
            <a:rect l="l" t="t" r="r" b="b"/>
            <a:pathLst>
              <a:path w="1020246" h="944935">
                <a:moveTo>
                  <a:pt x="0" y="0"/>
                </a:moveTo>
                <a:lnTo>
                  <a:pt x="1020246" y="0"/>
                </a:lnTo>
                <a:lnTo>
                  <a:pt x="1020246" y="944935"/>
                </a:lnTo>
                <a:lnTo>
                  <a:pt x="0" y="9449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24516">
            <a:off x="-1153289" y="6854997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092187">
            <a:off x="6924851" y="-300121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1092187">
            <a:off x="16450498" y="991884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w="9525" cap="flat">
            <a:solidFill>
              <a:srgbClr val="ACB5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2395263" y="2041235"/>
            <a:ext cx="13841961" cy="7284332"/>
          </a:xfrm>
          <a:custGeom>
            <a:avLst/>
            <a:gdLst/>
            <a:ahLst/>
            <a:cxnLst/>
            <a:rect l="l" t="t" r="r" b="b"/>
            <a:pathLst>
              <a:path w="13841961" h="7284332">
                <a:moveTo>
                  <a:pt x="0" y="0"/>
                </a:moveTo>
                <a:lnTo>
                  <a:pt x="13841961" y="0"/>
                </a:lnTo>
                <a:lnTo>
                  <a:pt x="13841961" y="7284332"/>
                </a:lnTo>
                <a:lnTo>
                  <a:pt x="0" y="72843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841596"/>
            <a:ext cx="16575087" cy="2348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40"/>
              </a:lnSpc>
            </a:pPr>
            <a:r>
              <a:rPr lang="en-US" sz="10523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RAW VS PROCESSED.</a:t>
            </a:r>
          </a:p>
          <a:p>
            <a:pPr algn="ctr">
              <a:lnSpc>
                <a:spcPts val="8840"/>
              </a:lnSpc>
            </a:pPr>
            <a:endParaRPr lang="en-US" sz="10523">
              <a:solidFill>
                <a:srgbClr val="3A3D81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6180411" y="9026170"/>
            <a:ext cx="1078889" cy="65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24516">
            <a:off x="-1153289" y="6854997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092187">
            <a:off x="6924851" y="-300121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1092187">
            <a:off x="16450498" y="991884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w="9525" cap="flat">
            <a:solidFill>
              <a:srgbClr val="ACB5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4715209" y="2107691"/>
            <a:ext cx="8857581" cy="7169771"/>
          </a:xfrm>
          <a:custGeom>
            <a:avLst/>
            <a:gdLst/>
            <a:ahLst/>
            <a:cxnLst/>
            <a:rect l="l" t="t" r="r" b="b"/>
            <a:pathLst>
              <a:path w="8857581" h="7169771">
                <a:moveTo>
                  <a:pt x="0" y="0"/>
                </a:moveTo>
                <a:lnTo>
                  <a:pt x="8857582" y="0"/>
                </a:lnTo>
                <a:lnTo>
                  <a:pt x="8857582" y="7169771"/>
                </a:lnTo>
                <a:lnTo>
                  <a:pt x="0" y="71697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11" b="-1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841596"/>
            <a:ext cx="16575087" cy="2348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40"/>
              </a:lnSpc>
            </a:pPr>
            <a:r>
              <a:rPr lang="en-US" sz="10523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RAW VS PROCESSED.</a:t>
            </a:r>
          </a:p>
          <a:p>
            <a:pPr algn="ctr">
              <a:lnSpc>
                <a:spcPts val="8840"/>
              </a:lnSpc>
            </a:pPr>
            <a:endParaRPr lang="en-US" sz="10523">
              <a:solidFill>
                <a:srgbClr val="3A3D81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6180411" y="9026170"/>
            <a:ext cx="1078889" cy="65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24516">
            <a:off x="-764107" y="6183780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092187">
            <a:off x="6924851" y="-300121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1092187">
            <a:off x="16450498" y="991884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w="9525" cap="flat">
            <a:solidFill>
              <a:srgbClr val="ACB5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6180411" y="9026170"/>
            <a:ext cx="1078889" cy="65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568240" y="564963"/>
            <a:ext cx="19424480" cy="2140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24"/>
              </a:lnSpc>
            </a:pPr>
            <a:r>
              <a:rPr lang="en-US" sz="8124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DATA PREPARATION &amp; SPLITTING</a:t>
            </a:r>
          </a:p>
          <a:p>
            <a:pPr algn="ctr">
              <a:lnSpc>
                <a:spcPts val="8840"/>
              </a:lnSpc>
            </a:pPr>
            <a:endParaRPr lang="en-US" sz="8124">
              <a:solidFill>
                <a:srgbClr val="3A3D81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226722" y="1746257"/>
            <a:ext cx="11960335" cy="192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endParaRPr/>
          </a:p>
          <a:p>
            <a:pPr algn="l">
              <a:lnSpc>
                <a:spcPts val="2961"/>
              </a:lnSpc>
            </a:pPr>
            <a:r>
              <a:rPr lang="en-US" sz="2961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Signals are divided into 30-second epochs (7680 samples at 256 Hz)</a:t>
            </a:r>
          </a:p>
          <a:p>
            <a:pPr algn="l">
              <a:lnSpc>
                <a:spcPts val="2961"/>
              </a:lnSpc>
            </a:pPr>
            <a:r>
              <a:rPr lang="en-US" sz="2961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Each epoch is matched with its sleep stage label from the XML file</a:t>
            </a:r>
          </a:p>
          <a:p>
            <a:pPr algn="l">
              <a:lnSpc>
                <a:spcPts val="2961"/>
              </a:lnSpc>
            </a:pPr>
            <a:r>
              <a:rPr lang="en-US" sz="2961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Invalid epochs or those containing artifacts are discarded</a:t>
            </a:r>
          </a:p>
          <a:p>
            <a:pPr algn="l">
              <a:lnSpc>
                <a:spcPts val="2961"/>
              </a:lnSpc>
            </a:pPr>
            <a:endParaRPr lang="en-US" sz="2961">
              <a:solidFill>
                <a:srgbClr val="3A3D81"/>
              </a:solidFill>
              <a:latin typeface="Jet"/>
              <a:ea typeface="Jet"/>
              <a:cs typeface="Jet"/>
              <a:sym typeface="Je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2249213"/>
            <a:ext cx="5198022" cy="1055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8"/>
              </a:lnSpc>
            </a:pPr>
            <a:r>
              <a:rPr lang="en-US" sz="4652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DATA ALIGNMENT:</a:t>
            </a:r>
          </a:p>
          <a:p>
            <a:pPr algn="l">
              <a:lnSpc>
                <a:spcPts val="3908"/>
              </a:lnSpc>
            </a:pPr>
            <a:endParaRPr lang="en-US" sz="4652">
              <a:solidFill>
                <a:srgbClr val="3A3D81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960007" y="4040706"/>
            <a:ext cx="12227050" cy="1560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2933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Sleep stage labels are converted to numerical values: 0 = Wake, 1 = N1, 2 = N2, 3 = N3, 4 = REM</a:t>
            </a:r>
          </a:p>
          <a:p>
            <a:pPr algn="l">
              <a:lnSpc>
                <a:spcPts val="2933"/>
              </a:lnSpc>
            </a:pPr>
            <a:endParaRPr lang="en-US" sz="2933">
              <a:solidFill>
                <a:srgbClr val="3A3D81"/>
              </a:solidFill>
              <a:latin typeface="Jet"/>
              <a:ea typeface="Jet"/>
              <a:cs typeface="Jet"/>
              <a:sym typeface="Jet"/>
            </a:endParaRPr>
          </a:p>
          <a:p>
            <a:pPr algn="l">
              <a:lnSpc>
                <a:spcPts val="2933"/>
              </a:lnSpc>
            </a:pPr>
            <a:endParaRPr lang="en-US" sz="2933">
              <a:solidFill>
                <a:srgbClr val="3A3D81"/>
              </a:solidFill>
              <a:latin typeface="Jet"/>
              <a:ea typeface="Jet"/>
              <a:cs typeface="Jet"/>
              <a:sym typeface="Je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4124434"/>
            <a:ext cx="4915800" cy="5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8"/>
              </a:lnSpc>
            </a:pPr>
            <a:r>
              <a:rPr lang="en-US" sz="4652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LABEL ENCODING: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24400" y="7535384"/>
            <a:ext cx="5727883" cy="1982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3"/>
              </a:lnSpc>
            </a:pPr>
            <a:r>
              <a:rPr lang="en-US" sz="3033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The dataset is divided into:</a:t>
            </a:r>
          </a:p>
          <a:p>
            <a:pPr marL="654891" lvl="1" indent="-327446" algn="l">
              <a:lnSpc>
                <a:spcPts val="3033"/>
              </a:lnSpc>
              <a:buFont typeface="Arial"/>
              <a:buChar char="•"/>
            </a:pPr>
            <a:r>
              <a:rPr lang="en-US" sz="3033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70% Training</a:t>
            </a:r>
          </a:p>
          <a:p>
            <a:pPr marL="654891" lvl="1" indent="-327446" algn="l">
              <a:lnSpc>
                <a:spcPts val="3033"/>
              </a:lnSpc>
              <a:buFont typeface="Arial"/>
              <a:buChar char="•"/>
            </a:pPr>
            <a:r>
              <a:rPr lang="en-US" sz="3033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15% Validation</a:t>
            </a:r>
          </a:p>
          <a:p>
            <a:pPr marL="654891" lvl="1" indent="-327446" algn="l">
              <a:lnSpc>
                <a:spcPts val="3033"/>
              </a:lnSpc>
              <a:buFont typeface="Arial"/>
              <a:buChar char="•"/>
            </a:pPr>
            <a:r>
              <a:rPr lang="en-US" sz="3033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15% Test</a:t>
            </a:r>
          </a:p>
          <a:p>
            <a:pPr algn="l">
              <a:lnSpc>
                <a:spcPts val="3033"/>
              </a:lnSpc>
            </a:pPr>
            <a:endParaRPr lang="en-US" sz="3033">
              <a:solidFill>
                <a:srgbClr val="3A3D81"/>
              </a:solidFill>
              <a:latin typeface="Jet"/>
              <a:ea typeface="Jet"/>
              <a:cs typeface="Jet"/>
              <a:sym typeface="Je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7461082"/>
            <a:ext cx="4436022" cy="5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8"/>
              </a:lnSpc>
            </a:pPr>
            <a:r>
              <a:rPr lang="en-US" sz="4652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DATA SPLIT: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3875" y="5729834"/>
            <a:ext cx="6524467" cy="5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8"/>
              </a:lnSpc>
            </a:pPr>
            <a:r>
              <a:rPr lang="en-US" sz="4652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HANDLING IMBALANCE: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20936" y="5672251"/>
            <a:ext cx="10171908" cy="1560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5"/>
              </a:lnSpc>
            </a:pPr>
            <a:r>
              <a:rPr lang="en-US" sz="2955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Sleep stages are highly imbalanced (especially N1 and N3)</a:t>
            </a:r>
          </a:p>
          <a:p>
            <a:pPr algn="l">
              <a:lnSpc>
                <a:spcPts val="2955"/>
              </a:lnSpc>
            </a:pPr>
            <a:r>
              <a:rPr lang="en-US" sz="2955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Techniques Applied: SMOTE + Class Weights</a:t>
            </a:r>
          </a:p>
          <a:p>
            <a:pPr algn="l">
              <a:lnSpc>
                <a:spcPts val="2955"/>
              </a:lnSpc>
            </a:pPr>
            <a:r>
              <a:rPr lang="en-US" sz="2955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This improves model performance on minority classes</a:t>
            </a:r>
          </a:p>
          <a:p>
            <a:pPr algn="l">
              <a:lnSpc>
                <a:spcPts val="2955"/>
              </a:lnSpc>
            </a:pPr>
            <a:endParaRPr lang="en-US" sz="2955">
              <a:solidFill>
                <a:srgbClr val="3A3D81"/>
              </a:solidFill>
              <a:latin typeface="Jet"/>
              <a:ea typeface="Jet"/>
              <a:cs typeface="Jet"/>
              <a:sym typeface="Je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24516">
            <a:off x="-764107" y="6183780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092187">
            <a:off x="6924851" y="-300121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1092187">
            <a:off x="16450498" y="991884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w="9525" cap="flat">
            <a:solidFill>
              <a:srgbClr val="ACB5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1751800"/>
            <a:ext cx="14112752" cy="7805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8"/>
              </a:lnSpc>
            </a:pPr>
            <a:r>
              <a:rPr lang="en-US" sz="3723" b="1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-Hybrid Model (CNN + LSTM + Attention)</a:t>
            </a:r>
          </a:p>
          <a:p>
            <a:pPr algn="l">
              <a:lnSpc>
                <a:spcPts val="4728"/>
              </a:lnSpc>
            </a:pPr>
            <a:r>
              <a:rPr lang="en-US" sz="3723" b="1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-Input Single</a:t>
            </a:r>
            <a:r>
              <a:rPr lang="en-US" sz="3723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 EOG Signal (30 seconds)</a:t>
            </a:r>
          </a:p>
          <a:p>
            <a:pPr algn="l">
              <a:lnSpc>
                <a:spcPts val="4728"/>
              </a:lnSpc>
            </a:pPr>
            <a:r>
              <a:rPr lang="en-US" sz="3723" b="1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-Model Structure:</a:t>
            </a:r>
          </a:p>
          <a:p>
            <a:pPr marL="803843" lvl="1" indent="-401921" algn="l">
              <a:lnSpc>
                <a:spcPts val="4728"/>
              </a:lnSpc>
              <a:buFont typeface="Arial"/>
              <a:buChar char="•"/>
            </a:pPr>
            <a:r>
              <a:rPr lang="en-US" sz="3723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Residual CNN Extracts important features from the signal</a:t>
            </a:r>
          </a:p>
          <a:p>
            <a:pPr marL="803843" lvl="1" indent="-401921" algn="l">
              <a:lnSpc>
                <a:spcPts val="4728"/>
              </a:lnSpc>
              <a:buFont typeface="Arial"/>
              <a:buChar char="•"/>
            </a:pPr>
            <a:r>
              <a:rPr lang="en-US" sz="3723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Bidirectional LSTM Understands the sequence and timing of sleep patterns</a:t>
            </a:r>
          </a:p>
          <a:p>
            <a:pPr marL="803843" lvl="1" indent="-401921" algn="l">
              <a:lnSpc>
                <a:spcPts val="4728"/>
              </a:lnSpc>
              <a:buFont typeface="Arial"/>
              <a:buChar char="•"/>
            </a:pPr>
            <a:r>
              <a:rPr lang="en-US" sz="3723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Attention Mechanism Focuses on the most relevant parts of the signal</a:t>
            </a:r>
          </a:p>
          <a:p>
            <a:pPr marL="803843" lvl="1" indent="-401921" algn="l">
              <a:lnSpc>
                <a:spcPts val="4728"/>
              </a:lnSpc>
              <a:buFont typeface="Arial"/>
              <a:buChar char="•"/>
            </a:pPr>
            <a:r>
              <a:rPr lang="en-US" sz="3723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Classification Layer Predicts one of 5 sleep stages: </a:t>
            </a:r>
          </a:p>
          <a:p>
            <a:pPr algn="l">
              <a:lnSpc>
                <a:spcPts val="4728"/>
              </a:lnSpc>
            </a:pPr>
            <a:r>
              <a:rPr lang="en-US" sz="3723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         Wake | N1 | N2 | N3 | REM</a:t>
            </a:r>
          </a:p>
          <a:p>
            <a:pPr algn="l">
              <a:lnSpc>
                <a:spcPts val="4728"/>
              </a:lnSpc>
            </a:pPr>
            <a:r>
              <a:rPr lang="en-US" sz="3723" b="1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Goal: </a:t>
            </a:r>
            <a:r>
              <a:rPr lang="en-US" sz="3723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High accuracy with a lightweight model suitable for wearable devices</a:t>
            </a:r>
          </a:p>
          <a:p>
            <a:pPr algn="l">
              <a:lnSpc>
                <a:spcPts val="4728"/>
              </a:lnSpc>
            </a:pPr>
            <a:endParaRPr lang="en-US" sz="3723">
              <a:solidFill>
                <a:srgbClr val="3A3D81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180411" y="9026170"/>
            <a:ext cx="1078889" cy="65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6332" y="701418"/>
            <a:ext cx="17411668" cy="1088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48"/>
              </a:lnSpc>
            </a:pPr>
            <a:r>
              <a:rPr lang="en-US" sz="9224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MODEL  ARCHITECTURE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24516">
            <a:off x="-764107" y="6183780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092187">
            <a:off x="6924851" y="-300121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1092187">
            <a:off x="16450498" y="991884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w="9525" cap="flat">
            <a:solidFill>
              <a:srgbClr val="ACB5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2283987" y="2401714"/>
            <a:ext cx="13720026" cy="6433957"/>
          </a:xfrm>
          <a:custGeom>
            <a:avLst/>
            <a:gdLst/>
            <a:ahLst/>
            <a:cxnLst/>
            <a:rect l="l" t="t" r="r" b="b"/>
            <a:pathLst>
              <a:path w="13720026" h="6433957">
                <a:moveTo>
                  <a:pt x="0" y="0"/>
                </a:moveTo>
                <a:lnTo>
                  <a:pt x="13720026" y="0"/>
                </a:lnTo>
                <a:lnTo>
                  <a:pt x="13720026" y="6433956"/>
                </a:lnTo>
                <a:lnTo>
                  <a:pt x="0" y="643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731" b="-1743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6180411" y="9026170"/>
            <a:ext cx="1078889" cy="654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6332" y="701418"/>
            <a:ext cx="17411668" cy="1088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48"/>
              </a:lnSpc>
            </a:pPr>
            <a:r>
              <a:rPr lang="en-US" sz="9224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MODEL  ARCHITECTURE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18829" y="2477661"/>
            <a:ext cx="15615801" cy="2214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80"/>
              </a:lnSpc>
            </a:pPr>
            <a:r>
              <a:rPr lang="en-US" sz="3271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We developed </a:t>
            </a:r>
            <a:r>
              <a:rPr lang="en-US" sz="3271" b="1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 versions </a:t>
            </a:r>
            <a:r>
              <a:rPr lang="en-US" sz="3271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of the project to improve performance step by step:</a:t>
            </a:r>
          </a:p>
          <a:p>
            <a:pPr algn="l">
              <a:lnSpc>
                <a:spcPts val="4580"/>
              </a:lnSpc>
            </a:pPr>
            <a:endParaRPr lang="en-US" sz="3271">
              <a:solidFill>
                <a:srgbClr val="3A3D81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580"/>
              </a:lnSpc>
            </a:pPr>
            <a:endParaRPr lang="en-US" sz="3271">
              <a:solidFill>
                <a:srgbClr val="3A3D81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271"/>
              </a:lnSpc>
            </a:pPr>
            <a:endParaRPr lang="en-US" sz="3271">
              <a:solidFill>
                <a:srgbClr val="3A3D81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82268" y="467318"/>
            <a:ext cx="16677032" cy="2884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28"/>
              </a:lnSpc>
            </a:pPr>
            <a:r>
              <a:rPr lang="en-US" sz="8724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MODEL EVOLUTION ACROSS NOTEBOOKS</a:t>
            </a:r>
          </a:p>
          <a:p>
            <a:pPr algn="ctr">
              <a:lnSpc>
                <a:spcPts val="7328"/>
              </a:lnSpc>
            </a:pPr>
            <a:endParaRPr lang="en-US" sz="8724">
              <a:solidFill>
                <a:srgbClr val="3A3D81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w="9525" cap="flat">
            <a:solidFill>
              <a:srgbClr val="ACB5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177410" y="-1214117"/>
            <a:ext cx="3758453" cy="3758453"/>
          </a:xfrm>
          <a:custGeom>
            <a:avLst/>
            <a:gdLst/>
            <a:ahLst/>
            <a:cxnLst/>
            <a:rect l="l" t="t" r="r" b="b"/>
            <a:pathLst>
              <a:path w="3758453" h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1632185" y="7677423"/>
            <a:ext cx="3758453" cy="3758453"/>
          </a:xfrm>
          <a:custGeom>
            <a:avLst/>
            <a:gdLst/>
            <a:ahLst/>
            <a:cxnLst/>
            <a:rect l="l" t="t" r="r" b="b"/>
            <a:pathLst>
              <a:path w="3758453" h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746708" y="8907715"/>
            <a:ext cx="3131075" cy="1810331"/>
          </a:xfrm>
          <a:custGeom>
            <a:avLst/>
            <a:gdLst/>
            <a:ahLst/>
            <a:cxnLst/>
            <a:rect l="l" t="t" r="r" b="b"/>
            <a:pathLst>
              <a:path w="3131075" h="1810331">
                <a:moveTo>
                  <a:pt x="0" y="0"/>
                </a:moveTo>
                <a:lnTo>
                  <a:pt x="3131075" y="0"/>
                </a:lnTo>
                <a:lnTo>
                  <a:pt x="3131075" y="1810331"/>
                </a:lnTo>
                <a:lnTo>
                  <a:pt x="0" y="18103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6180411" y="9026170"/>
            <a:ext cx="1078889" cy="65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16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56AD4A2-22F8-8D8D-D6FB-59175BB6F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604964"/>
              </p:ext>
            </p:extLst>
          </p:nvPr>
        </p:nvGraphicFramePr>
        <p:xfrm>
          <a:off x="2852522" y="3208825"/>
          <a:ext cx="12582955" cy="5817345"/>
        </p:xfrm>
        <a:graphic>
          <a:graphicData uri="http://schemas.openxmlformats.org/drawingml/2006/table">
            <a:tbl>
              <a:tblPr/>
              <a:tblGrid>
                <a:gridCol w="2557678">
                  <a:extLst>
                    <a:ext uri="{9D8B030D-6E8A-4147-A177-3AD203B41FA5}">
                      <a16:colId xmlns:a16="http://schemas.microsoft.com/office/drawing/2014/main" val="188115212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402237348"/>
                    </a:ext>
                  </a:extLst>
                </a:gridCol>
                <a:gridCol w="2934695">
                  <a:extLst>
                    <a:ext uri="{9D8B030D-6E8A-4147-A177-3AD203B41FA5}">
                      <a16:colId xmlns:a16="http://schemas.microsoft.com/office/drawing/2014/main" val="1289671515"/>
                    </a:ext>
                  </a:extLst>
                </a:gridCol>
                <a:gridCol w="2516591">
                  <a:extLst>
                    <a:ext uri="{9D8B030D-6E8A-4147-A177-3AD203B41FA5}">
                      <a16:colId xmlns:a16="http://schemas.microsoft.com/office/drawing/2014/main" val="602061476"/>
                    </a:ext>
                  </a:extLst>
                </a:gridCol>
                <a:gridCol w="2516591">
                  <a:extLst>
                    <a:ext uri="{9D8B030D-6E8A-4147-A177-3AD203B41FA5}">
                      <a16:colId xmlns:a16="http://schemas.microsoft.com/office/drawing/2014/main" val="2948138456"/>
                    </a:ext>
                  </a:extLst>
                </a:gridCol>
              </a:tblGrid>
              <a:tr h="1163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effectLst/>
                        </a:rPr>
                        <a:t>Notebook</a:t>
                      </a:r>
                    </a:p>
                  </a:txBody>
                  <a:tcPr marL="86632" marR="86632" marT="43316" marB="43316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effectLst/>
                        </a:rPr>
                        <a:t>Data Splitting</a:t>
                      </a:r>
                    </a:p>
                  </a:txBody>
                  <a:tcPr marL="86632" marR="86632" marT="43316" marB="43316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effectLst/>
                        </a:rPr>
                        <a:t>Imbalance Handling</a:t>
                      </a:r>
                    </a:p>
                  </a:txBody>
                  <a:tcPr marL="86632" marR="86632" marT="43316" marB="43316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Augmentation</a:t>
                      </a:r>
                    </a:p>
                  </a:txBody>
                  <a:tcPr marL="86632" marR="86632" marT="43316" marB="43316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effectLst/>
                        </a:rPr>
                        <a:t>Test Accuracy</a:t>
                      </a:r>
                    </a:p>
                  </a:txBody>
                  <a:tcPr marL="86632" marR="86632" marT="43316" marB="43316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645372"/>
                  </a:ext>
                </a:extLst>
              </a:tr>
              <a:tr h="1163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effectLst/>
                        </a:rPr>
                        <a:t>signals_eog1</a:t>
                      </a:r>
                    </a:p>
                  </a:txBody>
                  <a:tcPr marL="86632" marR="86632" marT="43316" marB="43316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Subject-wise</a:t>
                      </a:r>
                    </a:p>
                  </a:txBody>
                  <a:tcPr marL="86632" marR="86632" marT="43316" marB="43316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Weighted Random Sampler</a:t>
                      </a:r>
                    </a:p>
                  </a:txBody>
                  <a:tcPr marL="86632" marR="86632" marT="43316" marB="43316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Noise + Scaling</a:t>
                      </a:r>
                    </a:p>
                  </a:txBody>
                  <a:tcPr marL="86632" marR="86632" marT="43316" marB="43316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65.95%</a:t>
                      </a:r>
                    </a:p>
                  </a:txBody>
                  <a:tcPr marL="86632" marR="86632" marT="43316" marB="43316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92314"/>
                  </a:ext>
                </a:extLst>
              </a:tr>
              <a:tr h="1163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signalseog2</a:t>
                      </a:r>
                    </a:p>
                  </a:txBody>
                  <a:tcPr marL="86632" marR="86632" marT="43316" marB="43316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Sampling </a:t>
                      </a:r>
                    </a:p>
                  </a:txBody>
                  <a:tcPr marL="86632" marR="86632" marT="43316" marB="43316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Weighted Random Sampler</a:t>
                      </a:r>
                    </a:p>
                  </a:txBody>
                  <a:tcPr marL="86632" marR="86632" marT="43316" marB="43316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Noise + Scaling + Time Shifting</a:t>
                      </a:r>
                    </a:p>
                  </a:txBody>
                  <a:tcPr marL="86632" marR="86632" marT="43316" marB="43316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effectLst/>
                        </a:rPr>
                        <a:t>74.50%</a:t>
                      </a:r>
                    </a:p>
                  </a:txBody>
                  <a:tcPr marL="86632" marR="86632" marT="43316" marB="43316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226701"/>
                  </a:ext>
                </a:extLst>
              </a:tr>
              <a:tr h="1163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signalseog3</a:t>
                      </a:r>
                    </a:p>
                  </a:txBody>
                  <a:tcPr marL="86632" marR="86632" marT="43316" marB="43316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Subject-wise</a:t>
                      </a:r>
                    </a:p>
                  </a:txBody>
                  <a:tcPr marL="86632" marR="86632" marT="43316" marB="43316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SMOTE</a:t>
                      </a:r>
                    </a:p>
                  </a:txBody>
                  <a:tcPr marL="86632" marR="86632" marT="43316" marB="43316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Noise + Scaling</a:t>
                      </a:r>
                    </a:p>
                  </a:txBody>
                  <a:tcPr marL="86632" marR="86632" marT="43316" marB="43316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80.25%</a:t>
                      </a:r>
                    </a:p>
                  </a:txBody>
                  <a:tcPr marL="86632" marR="86632" marT="43316" marB="43316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129080"/>
                  </a:ext>
                </a:extLst>
              </a:tr>
              <a:tr h="1163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signalseog4 (Final)</a:t>
                      </a:r>
                    </a:p>
                  </a:txBody>
                  <a:tcPr marL="86632" marR="86632" marT="43316" marB="43316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Sampling</a:t>
                      </a:r>
                    </a:p>
                  </a:txBody>
                  <a:tcPr marL="86632" marR="86632" marT="43316" marB="43316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SMOTE</a:t>
                      </a:r>
                    </a:p>
                  </a:txBody>
                  <a:tcPr marL="86632" marR="86632" marT="43316" marB="43316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Noise + Scaling</a:t>
                      </a:r>
                    </a:p>
                  </a:txBody>
                  <a:tcPr marL="86632" marR="86632" marT="43316" marB="43316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effectLst/>
                        </a:rPr>
                        <a:t>82.39%</a:t>
                      </a:r>
                    </a:p>
                  </a:txBody>
                  <a:tcPr marL="86632" marR="86632" marT="43316" marB="43316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09156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24516">
            <a:off x="-764107" y="6183780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092187">
            <a:off x="6924851" y="-300121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1092187">
            <a:off x="16450498" y="991884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w="9525" cap="flat">
            <a:solidFill>
              <a:srgbClr val="ACB5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89182" y="673081"/>
            <a:ext cx="17411668" cy="3050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48"/>
              </a:lnSpc>
            </a:pPr>
            <a:r>
              <a:rPr lang="en-US" sz="9224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TRAINING PROCESS &amp; RESULTS</a:t>
            </a:r>
          </a:p>
          <a:p>
            <a:pPr algn="ctr">
              <a:lnSpc>
                <a:spcPts val="7748"/>
              </a:lnSpc>
            </a:pPr>
            <a:endParaRPr lang="en-US" sz="9224">
              <a:solidFill>
                <a:srgbClr val="3A3D81"/>
              </a:solidFill>
              <a:latin typeface="Lilita One"/>
              <a:ea typeface="Lilita One"/>
              <a:cs typeface="Lilita One"/>
              <a:sym typeface="Lilita One"/>
            </a:endParaRPr>
          </a:p>
          <a:p>
            <a:pPr algn="ctr">
              <a:lnSpc>
                <a:spcPts val="7748"/>
              </a:lnSpc>
            </a:pPr>
            <a:endParaRPr lang="en-US" sz="9224">
              <a:solidFill>
                <a:srgbClr val="3A3D81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95485" y="2121575"/>
            <a:ext cx="14112752" cy="6005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8"/>
              </a:lnSpc>
            </a:pPr>
            <a:r>
              <a:rPr lang="en-US" sz="3723" b="1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-Training Parameters:</a:t>
            </a:r>
          </a:p>
          <a:p>
            <a:pPr marL="803843" lvl="1" indent="-401921" algn="l">
              <a:lnSpc>
                <a:spcPts val="4728"/>
              </a:lnSpc>
              <a:buFont typeface="Arial"/>
              <a:buChar char="•"/>
            </a:pPr>
            <a:r>
              <a:rPr lang="en-US" sz="3723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Epochs: 50</a:t>
            </a:r>
          </a:p>
          <a:p>
            <a:pPr marL="803843" lvl="1" indent="-401921" algn="l">
              <a:lnSpc>
                <a:spcPts val="4728"/>
              </a:lnSpc>
              <a:buFont typeface="Arial"/>
              <a:buChar char="•"/>
            </a:pPr>
            <a:r>
              <a:rPr lang="en-US" sz="3723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Batch Size: 32</a:t>
            </a:r>
          </a:p>
          <a:p>
            <a:pPr algn="l">
              <a:lnSpc>
                <a:spcPts val="4728"/>
              </a:lnSpc>
            </a:pPr>
            <a:endParaRPr lang="en-US" sz="3723">
              <a:solidFill>
                <a:srgbClr val="3A3D81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28"/>
              </a:lnSpc>
            </a:pPr>
            <a:r>
              <a:rPr lang="en-US" sz="3723" b="1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-Key Observations During Training:</a:t>
            </a:r>
          </a:p>
          <a:p>
            <a:pPr marL="803843" lvl="1" indent="-401921" algn="l">
              <a:lnSpc>
                <a:spcPts val="4728"/>
              </a:lnSpc>
              <a:buFont typeface="Arial"/>
              <a:buChar char="•"/>
            </a:pPr>
            <a:r>
              <a:rPr lang="en-US" sz="3723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Training Accuracy reached </a:t>
            </a:r>
            <a:r>
              <a:rPr lang="en-US" sz="3723" b="1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99.5%</a:t>
            </a:r>
            <a:r>
              <a:rPr lang="en-US" sz="3723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 by the final epoch</a:t>
            </a:r>
          </a:p>
          <a:p>
            <a:pPr marL="803843" lvl="1" indent="-401921" algn="l">
              <a:lnSpc>
                <a:spcPts val="4728"/>
              </a:lnSpc>
              <a:buFont typeface="Arial"/>
              <a:buChar char="•"/>
            </a:pPr>
            <a:r>
              <a:rPr lang="en-US" sz="3723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Best Validation Accuracy: </a:t>
            </a:r>
            <a:r>
              <a:rPr lang="en-US" sz="3723" b="1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~83.2% </a:t>
            </a:r>
          </a:p>
          <a:p>
            <a:pPr marL="803843" lvl="1" indent="-401921" algn="l">
              <a:lnSpc>
                <a:spcPts val="4728"/>
              </a:lnSpc>
              <a:buFont typeface="Arial"/>
              <a:buChar char="•"/>
            </a:pPr>
            <a:r>
              <a:rPr lang="en-US" sz="3723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Model shows good convergence with stable training</a:t>
            </a:r>
          </a:p>
          <a:p>
            <a:pPr algn="l">
              <a:lnSpc>
                <a:spcPts val="4728"/>
              </a:lnSpc>
            </a:pPr>
            <a:endParaRPr lang="en-US" sz="3723">
              <a:solidFill>
                <a:srgbClr val="3A3D81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28"/>
              </a:lnSpc>
            </a:pPr>
            <a:endParaRPr lang="en-US" sz="3723">
              <a:solidFill>
                <a:srgbClr val="3A3D81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6180411" y="9026170"/>
            <a:ext cx="1078889" cy="65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17</a:t>
            </a:r>
          </a:p>
        </p:txBody>
      </p:sp>
      <p:sp>
        <p:nvSpPr>
          <p:cNvPr id="9" name="Freeform 9"/>
          <p:cNvSpPr/>
          <p:nvPr/>
        </p:nvSpPr>
        <p:spPr>
          <a:xfrm rot="-593986">
            <a:off x="15721988" y="6065391"/>
            <a:ext cx="1581124" cy="1394264"/>
          </a:xfrm>
          <a:custGeom>
            <a:avLst/>
            <a:gdLst/>
            <a:ahLst/>
            <a:cxnLst/>
            <a:rect l="l" t="t" r="r" b="b"/>
            <a:pathLst>
              <a:path w="1581124" h="1394264">
                <a:moveTo>
                  <a:pt x="0" y="0"/>
                </a:moveTo>
                <a:lnTo>
                  <a:pt x="1581124" y="0"/>
                </a:lnTo>
                <a:lnTo>
                  <a:pt x="1581124" y="1394264"/>
                </a:lnTo>
                <a:lnTo>
                  <a:pt x="0" y="1394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24516">
            <a:off x="-764107" y="6183780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092187">
            <a:off x="6924851" y="-300121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1092187">
            <a:off x="16450498" y="991884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w="9525" cap="flat">
            <a:solidFill>
              <a:srgbClr val="ACB5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593986">
            <a:off x="15721988" y="6065391"/>
            <a:ext cx="1581124" cy="1394264"/>
          </a:xfrm>
          <a:custGeom>
            <a:avLst/>
            <a:gdLst/>
            <a:ahLst/>
            <a:cxnLst/>
            <a:rect l="l" t="t" r="r" b="b"/>
            <a:pathLst>
              <a:path w="1581124" h="1394264">
                <a:moveTo>
                  <a:pt x="0" y="0"/>
                </a:moveTo>
                <a:lnTo>
                  <a:pt x="1581124" y="0"/>
                </a:lnTo>
                <a:lnTo>
                  <a:pt x="1581124" y="1394264"/>
                </a:lnTo>
                <a:lnTo>
                  <a:pt x="0" y="1394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3023743" y="2536622"/>
            <a:ext cx="11301259" cy="861721"/>
          </a:xfrm>
          <a:custGeom>
            <a:avLst/>
            <a:gdLst/>
            <a:ahLst/>
            <a:cxnLst/>
            <a:rect l="l" t="t" r="r" b="b"/>
            <a:pathLst>
              <a:path w="11301259" h="861721">
                <a:moveTo>
                  <a:pt x="0" y="0"/>
                </a:moveTo>
                <a:lnTo>
                  <a:pt x="11301259" y="0"/>
                </a:lnTo>
                <a:lnTo>
                  <a:pt x="11301259" y="861721"/>
                </a:lnTo>
                <a:lnTo>
                  <a:pt x="0" y="8617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3035689" y="4375768"/>
            <a:ext cx="11301259" cy="1115999"/>
          </a:xfrm>
          <a:custGeom>
            <a:avLst/>
            <a:gdLst/>
            <a:ahLst/>
            <a:cxnLst/>
            <a:rect l="l" t="t" r="r" b="b"/>
            <a:pathLst>
              <a:path w="11301259" h="1115999">
                <a:moveTo>
                  <a:pt x="0" y="0"/>
                </a:moveTo>
                <a:lnTo>
                  <a:pt x="11301259" y="0"/>
                </a:lnTo>
                <a:lnTo>
                  <a:pt x="11301259" y="1116000"/>
                </a:lnTo>
                <a:lnTo>
                  <a:pt x="0" y="1116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3035689" y="6469193"/>
            <a:ext cx="11301259" cy="1115999"/>
          </a:xfrm>
          <a:custGeom>
            <a:avLst/>
            <a:gdLst/>
            <a:ahLst/>
            <a:cxnLst/>
            <a:rect l="l" t="t" r="r" b="b"/>
            <a:pathLst>
              <a:path w="11301259" h="1115999">
                <a:moveTo>
                  <a:pt x="0" y="0"/>
                </a:moveTo>
                <a:lnTo>
                  <a:pt x="11301259" y="0"/>
                </a:lnTo>
                <a:lnTo>
                  <a:pt x="11301259" y="1115999"/>
                </a:lnTo>
                <a:lnTo>
                  <a:pt x="0" y="11159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3023743" y="8302729"/>
            <a:ext cx="11301259" cy="974734"/>
          </a:xfrm>
          <a:custGeom>
            <a:avLst/>
            <a:gdLst/>
            <a:ahLst/>
            <a:cxnLst/>
            <a:rect l="l" t="t" r="r" b="b"/>
            <a:pathLst>
              <a:path w="11301259" h="974734">
                <a:moveTo>
                  <a:pt x="0" y="0"/>
                </a:moveTo>
                <a:lnTo>
                  <a:pt x="11301259" y="0"/>
                </a:lnTo>
                <a:lnTo>
                  <a:pt x="11301259" y="974733"/>
                </a:lnTo>
                <a:lnTo>
                  <a:pt x="0" y="9747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389182" y="673081"/>
            <a:ext cx="17411668" cy="1088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48"/>
              </a:lnSpc>
            </a:pPr>
            <a:r>
              <a:rPr lang="en-US" sz="9224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TRAINING  RESULTS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180411" y="9026170"/>
            <a:ext cx="1078889" cy="65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18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833465"/>
            <a:ext cx="5509528" cy="564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85"/>
              </a:lnSpc>
              <a:spcBef>
                <a:spcPct val="0"/>
              </a:spcBef>
            </a:pP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1ST VERSION “SIGNALS_EOG1”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3944" y="3573110"/>
            <a:ext cx="5876383" cy="564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85"/>
              </a:lnSpc>
              <a:spcBef>
                <a:spcPct val="0"/>
              </a:spcBef>
            </a:pP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2ND VERSION “SIGNALS_EOG2”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3355" y="5663218"/>
            <a:ext cx="5854691" cy="564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85"/>
              </a:lnSpc>
              <a:spcBef>
                <a:spcPct val="0"/>
              </a:spcBef>
            </a:pP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3RD VERSION “SIGNALS_EOG3”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8972" y="7628356"/>
            <a:ext cx="5966328" cy="564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85"/>
              </a:lnSpc>
              <a:spcBef>
                <a:spcPct val="0"/>
              </a:spcBef>
            </a:pP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4TH  VERSION “SIGNALS_EOG4”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24516">
            <a:off x="-764107" y="6183780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092187">
            <a:off x="6924851" y="-300121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1092187">
            <a:off x="16450498" y="991884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w="9525" cap="flat">
            <a:solidFill>
              <a:srgbClr val="ACB5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09866" y="2942877"/>
            <a:ext cx="15468269" cy="5993954"/>
          </a:xfrm>
          <a:custGeom>
            <a:avLst/>
            <a:gdLst/>
            <a:ahLst/>
            <a:cxnLst/>
            <a:rect l="l" t="t" r="r" b="b"/>
            <a:pathLst>
              <a:path w="15468269" h="5993954">
                <a:moveTo>
                  <a:pt x="0" y="0"/>
                </a:moveTo>
                <a:lnTo>
                  <a:pt x="15468268" y="0"/>
                </a:lnTo>
                <a:lnTo>
                  <a:pt x="15468268" y="5993954"/>
                </a:lnTo>
                <a:lnTo>
                  <a:pt x="0" y="59939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6180411" y="9026170"/>
            <a:ext cx="1078889" cy="65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0566" y="988926"/>
            <a:ext cx="17046868" cy="1034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95"/>
              </a:lnSpc>
            </a:pPr>
            <a:r>
              <a:rPr lang="en-US" sz="8803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TRAINING &amp; VALIDATION CURVES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833465"/>
            <a:ext cx="5509528" cy="564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85"/>
              </a:lnSpc>
              <a:spcBef>
                <a:spcPct val="0"/>
              </a:spcBef>
            </a:pP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1ST VERSION “SIGNALS_EOG1”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24516">
            <a:off x="-764107" y="6183780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092187">
            <a:off x="6924851" y="-300121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1092187">
            <a:off x="16450498" y="991884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w="9525" cap="flat">
            <a:solidFill>
              <a:srgbClr val="ACB5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384845" y="3015212"/>
            <a:ext cx="15335011" cy="5846473"/>
          </a:xfrm>
          <a:custGeom>
            <a:avLst/>
            <a:gdLst/>
            <a:ahLst/>
            <a:cxnLst/>
            <a:rect l="l" t="t" r="r" b="b"/>
            <a:pathLst>
              <a:path w="15335011" h="5846473">
                <a:moveTo>
                  <a:pt x="0" y="0"/>
                </a:moveTo>
                <a:lnTo>
                  <a:pt x="15335010" y="0"/>
                </a:lnTo>
                <a:lnTo>
                  <a:pt x="15335010" y="5846473"/>
                </a:lnTo>
                <a:lnTo>
                  <a:pt x="0" y="58464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6180411" y="9026170"/>
            <a:ext cx="1078889" cy="65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0566" y="988926"/>
            <a:ext cx="17046868" cy="1034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95"/>
              </a:lnSpc>
            </a:pPr>
            <a:r>
              <a:rPr lang="en-US" sz="8803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TRAINING &amp; VALIDATION CURVES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3944" y="2039663"/>
            <a:ext cx="5876383" cy="564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85"/>
              </a:lnSpc>
              <a:spcBef>
                <a:spcPct val="0"/>
              </a:spcBef>
            </a:pP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2ND VERSION “SIGNALS_EOG2”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24516">
            <a:off x="-764107" y="6183780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092187">
            <a:off x="6924851" y="-300121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1092187">
            <a:off x="16450498" y="991884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w="9525" cap="flat">
            <a:solidFill>
              <a:srgbClr val="ACB5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193844" y="2886011"/>
            <a:ext cx="16065456" cy="6104873"/>
          </a:xfrm>
          <a:custGeom>
            <a:avLst/>
            <a:gdLst/>
            <a:ahLst/>
            <a:cxnLst/>
            <a:rect l="l" t="t" r="r" b="b"/>
            <a:pathLst>
              <a:path w="16065456" h="6104873">
                <a:moveTo>
                  <a:pt x="0" y="0"/>
                </a:moveTo>
                <a:lnTo>
                  <a:pt x="16065456" y="0"/>
                </a:lnTo>
                <a:lnTo>
                  <a:pt x="16065456" y="6104874"/>
                </a:lnTo>
                <a:lnTo>
                  <a:pt x="0" y="61048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6180411" y="9026170"/>
            <a:ext cx="1078889" cy="65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0566" y="988926"/>
            <a:ext cx="17046868" cy="1034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95"/>
              </a:lnSpc>
            </a:pPr>
            <a:r>
              <a:rPr lang="en-US" sz="8803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TRAINING &amp; VALIDATION CURVES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3355" y="2039663"/>
            <a:ext cx="5854691" cy="564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85"/>
              </a:lnSpc>
              <a:spcBef>
                <a:spcPct val="0"/>
              </a:spcBef>
            </a:pP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3RD VERSION “SIGNALS_EOG3”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24516">
            <a:off x="-764107" y="6183780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092187">
            <a:off x="6924851" y="-300121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1092187">
            <a:off x="16450498" y="991884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w="9525" cap="flat">
            <a:solidFill>
              <a:srgbClr val="ACB5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03670" y="2755941"/>
            <a:ext cx="16255630" cy="6079730"/>
          </a:xfrm>
          <a:custGeom>
            <a:avLst/>
            <a:gdLst/>
            <a:ahLst/>
            <a:cxnLst/>
            <a:rect l="l" t="t" r="r" b="b"/>
            <a:pathLst>
              <a:path w="16255630" h="6079730">
                <a:moveTo>
                  <a:pt x="0" y="0"/>
                </a:moveTo>
                <a:lnTo>
                  <a:pt x="16255630" y="0"/>
                </a:lnTo>
                <a:lnTo>
                  <a:pt x="16255630" y="6079729"/>
                </a:lnTo>
                <a:lnTo>
                  <a:pt x="0" y="60797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26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6180411" y="9026170"/>
            <a:ext cx="1078889" cy="65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0566" y="988926"/>
            <a:ext cx="17046868" cy="1034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95"/>
              </a:lnSpc>
            </a:pPr>
            <a:r>
              <a:rPr lang="en-US" sz="8803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TRAINING &amp; VALIDATION CURVES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8737" y="1974560"/>
            <a:ext cx="5966328" cy="564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85"/>
              </a:lnSpc>
              <a:spcBef>
                <a:spcPct val="0"/>
              </a:spcBef>
            </a:pP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4TH  VERSION “SIGNALS_EOG4”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24516">
            <a:off x="-764107" y="6183780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092187">
            <a:off x="6924851" y="-300121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1092187">
            <a:off x="16450498" y="991884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w="9525" cap="flat">
            <a:solidFill>
              <a:srgbClr val="ACB5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593986">
            <a:off x="15721988" y="6065391"/>
            <a:ext cx="1581124" cy="1394264"/>
          </a:xfrm>
          <a:custGeom>
            <a:avLst/>
            <a:gdLst/>
            <a:ahLst/>
            <a:cxnLst/>
            <a:rect l="l" t="t" r="r" b="b"/>
            <a:pathLst>
              <a:path w="1581124" h="1394264">
                <a:moveTo>
                  <a:pt x="0" y="0"/>
                </a:moveTo>
                <a:lnTo>
                  <a:pt x="1581124" y="0"/>
                </a:lnTo>
                <a:lnTo>
                  <a:pt x="1581124" y="1394264"/>
                </a:lnTo>
                <a:lnTo>
                  <a:pt x="0" y="1394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4115306" y="2556924"/>
            <a:ext cx="10772423" cy="923936"/>
          </a:xfrm>
          <a:custGeom>
            <a:avLst/>
            <a:gdLst/>
            <a:ahLst/>
            <a:cxnLst/>
            <a:rect l="l" t="t" r="r" b="b"/>
            <a:pathLst>
              <a:path w="10772423" h="923936">
                <a:moveTo>
                  <a:pt x="0" y="0"/>
                </a:moveTo>
                <a:lnTo>
                  <a:pt x="10772422" y="0"/>
                </a:lnTo>
                <a:lnTo>
                  <a:pt x="10772422" y="923936"/>
                </a:lnTo>
                <a:lnTo>
                  <a:pt x="0" y="923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78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4115306" y="4451564"/>
            <a:ext cx="10772423" cy="905683"/>
          </a:xfrm>
          <a:custGeom>
            <a:avLst/>
            <a:gdLst/>
            <a:ahLst/>
            <a:cxnLst/>
            <a:rect l="l" t="t" r="r" b="b"/>
            <a:pathLst>
              <a:path w="10772423" h="905683">
                <a:moveTo>
                  <a:pt x="0" y="0"/>
                </a:moveTo>
                <a:lnTo>
                  <a:pt x="10772422" y="0"/>
                </a:lnTo>
                <a:lnTo>
                  <a:pt x="10772422" y="905683"/>
                </a:lnTo>
                <a:lnTo>
                  <a:pt x="0" y="9056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31" b="-5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3942136" y="8444977"/>
            <a:ext cx="10945593" cy="781386"/>
          </a:xfrm>
          <a:custGeom>
            <a:avLst/>
            <a:gdLst/>
            <a:ahLst/>
            <a:cxnLst/>
            <a:rect l="l" t="t" r="r" b="b"/>
            <a:pathLst>
              <a:path w="10945593" h="781386">
                <a:moveTo>
                  <a:pt x="0" y="0"/>
                </a:moveTo>
                <a:lnTo>
                  <a:pt x="10945592" y="0"/>
                </a:lnTo>
                <a:lnTo>
                  <a:pt x="10945592" y="781386"/>
                </a:lnTo>
                <a:lnTo>
                  <a:pt x="0" y="7813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403" b="-4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4115306" y="6490398"/>
            <a:ext cx="10772423" cy="883261"/>
          </a:xfrm>
          <a:custGeom>
            <a:avLst/>
            <a:gdLst/>
            <a:ahLst/>
            <a:cxnLst/>
            <a:rect l="l" t="t" r="r" b="b"/>
            <a:pathLst>
              <a:path w="10772423" h="883261">
                <a:moveTo>
                  <a:pt x="0" y="0"/>
                </a:moveTo>
                <a:lnTo>
                  <a:pt x="10772422" y="0"/>
                </a:lnTo>
                <a:lnTo>
                  <a:pt x="10772422" y="883262"/>
                </a:lnTo>
                <a:lnTo>
                  <a:pt x="0" y="8832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850" b="-185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389182" y="673081"/>
            <a:ext cx="17411668" cy="1088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48"/>
              </a:lnSpc>
            </a:pPr>
            <a:r>
              <a:rPr lang="en-US" sz="9224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EVALUATION &amp; RESULTS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180411" y="9026170"/>
            <a:ext cx="1078889" cy="65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833465"/>
            <a:ext cx="5509528" cy="564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85"/>
              </a:lnSpc>
              <a:spcBef>
                <a:spcPct val="0"/>
              </a:spcBef>
            </a:pP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1ST VERSION “SIGNALS_EOG1”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3944" y="3573110"/>
            <a:ext cx="5876383" cy="564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85"/>
              </a:lnSpc>
              <a:spcBef>
                <a:spcPct val="0"/>
              </a:spcBef>
            </a:pP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2ND VERSION “SIGNALS_EOG2”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3944" y="5604493"/>
            <a:ext cx="5854691" cy="564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85"/>
              </a:lnSpc>
              <a:spcBef>
                <a:spcPct val="0"/>
              </a:spcBef>
            </a:pP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3RD VERSION “SIGNALS_EOG3”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8972" y="7628356"/>
            <a:ext cx="5966328" cy="564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85"/>
              </a:lnSpc>
              <a:spcBef>
                <a:spcPct val="0"/>
              </a:spcBef>
            </a:pP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4TH  VERSION “SIGNALS_EOG4”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w="9525" cap="flat">
            <a:solidFill>
              <a:srgbClr val="ACB5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180411" y="9026170"/>
            <a:ext cx="1078889" cy="65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85627" y="2237785"/>
            <a:ext cx="11116746" cy="549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79"/>
              </a:lnSpc>
              <a:spcBef>
                <a:spcPct val="0"/>
              </a:spcBef>
            </a:pPr>
            <a:r>
              <a:rPr lang="en-US" sz="15699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CONFUSION MATRICES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24516">
            <a:off x="-764107" y="6183780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092187">
            <a:off x="6924851" y="-300121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1092187">
            <a:off x="16450498" y="991884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w="9525" cap="flat">
            <a:solidFill>
              <a:srgbClr val="ACB5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2615962" y="487224"/>
            <a:ext cx="6036675" cy="4806777"/>
          </a:xfrm>
          <a:custGeom>
            <a:avLst/>
            <a:gdLst/>
            <a:ahLst/>
            <a:cxnLst/>
            <a:rect l="l" t="t" r="r" b="b"/>
            <a:pathLst>
              <a:path w="6036675" h="4806777">
                <a:moveTo>
                  <a:pt x="0" y="0"/>
                </a:moveTo>
                <a:lnTo>
                  <a:pt x="6036675" y="0"/>
                </a:lnTo>
                <a:lnTo>
                  <a:pt x="6036675" y="4806777"/>
                </a:lnTo>
                <a:lnTo>
                  <a:pt x="0" y="4806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830" b="-137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9346252" y="553359"/>
            <a:ext cx="6041339" cy="4740643"/>
          </a:xfrm>
          <a:custGeom>
            <a:avLst/>
            <a:gdLst/>
            <a:ahLst/>
            <a:cxnLst/>
            <a:rect l="l" t="t" r="r" b="b"/>
            <a:pathLst>
              <a:path w="6041339" h="4740643">
                <a:moveTo>
                  <a:pt x="0" y="0"/>
                </a:moveTo>
                <a:lnTo>
                  <a:pt x="6041339" y="0"/>
                </a:lnTo>
                <a:lnTo>
                  <a:pt x="6041339" y="4740642"/>
                </a:lnTo>
                <a:lnTo>
                  <a:pt x="0" y="4740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15" b="-8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2615962" y="5466565"/>
            <a:ext cx="6036675" cy="4619564"/>
          </a:xfrm>
          <a:custGeom>
            <a:avLst/>
            <a:gdLst/>
            <a:ahLst/>
            <a:cxnLst/>
            <a:rect l="l" t="t" r="r" b="b"/>
            <a:pathLst>
              <a:path w="6036675" h="4619564">
                <a:moveTo>
                  <a:pt x="0" y="0"/>
                </a:moveTo>
                <a:lnTo>
                  <a:pt x="6036675" y="0"/>
                </a:lnTo>
                <a:lnTo>
                  <a:pt x="6036675" y="4619564"/>
                </a:lnTo>
                <a:lnTo>
                  <a:pt x="0" y="46195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332" b="-333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9368785" y="5466565"/>
            <a:ext cx="6018806" cy="4619564"/>
          </a:xfrm>
          <a:custGeom>
            <a:avLst/>
            <a:gdLst/>
            <a:ahLst/>
            <a:cxnLst/>
            <a:rect l="l" t="t" r="r" b="b"/>
            <a:pathLst>
              <a:path w="6018806" h="4619564">
                <a:moveTo>
                  <a:pt x="0" y="0"/>
                </a:moveTo>
                <a:lnTo>
                  <a:pt x="6018806" y="0"/>
                </a:lnTo>
                <a:lnTo>
                  <a:pt x="6018806" y="4619564"/>
                </a:lnTo>
                <a:lnTo>
                  <a:pt x="0" y="46195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736" b="-273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6180411" y="9026170"/>
            <a:ext cx="1078889" cy="65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2674" y="486684"/>
            <a:ext cx="1782165" cy="45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1ST VERSION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772770" y="617451"/>
            <a:ext cx="1866452" cy="45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2ND VERSION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6912" y="5399890"/>
            <a:ext cx="2013689" cy="45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3RD VERSION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791454" y="5399890"/>
            <a:ext cx="2078525" cy="45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4TH  VERSION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w="9525" cap="flat">
            <a:solidFill>
              <a:srgbClr val="ACB5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180411" y="9026170"/>
            <a:ext cx="1078889" cy="65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87405" y="2237785"/>
            <a:ext cx="14313191" cy="549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79"/>
              </a:lnSpc>
              <a:spcBef>
                <a:spcPct val="0"/>
              </a:spcBef>
            </a:pPr>
            <a:r>
              <a:rPr lang="en-US" sz="15699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CLASSFICATION REPORTS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24516">
            <a:off x="-764107" y="6183780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092187">
            <a:off x="6924851" y="-300121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1092187">
            <a:off x="16450498" y="991884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w="9525" cap="flat">
            <a:solidFill>
              <a:srgbClr val="ACB5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795964" y="945101"/>
            <a:ext cx="7175469" cy="4037410"/>
          </a:xfrm>
          <a:custGeom>
            <a:avLst/>
            <a:gdLst/>
            <a:ahLst/>
            <a:cxnLst/>
            <a:rect l="l" t="t" r="r" b="b"/>
            <a:pathLst>
              <a:path w="7175469" h="4037410">
                <a:moveTo>
                  <a:pt x="0" y="0"/>
                </a:moveTo>
                <a:lnTo>
                  <a:pt x="7175469" y="0"/>
                </a:lnTo>
                <a:lnTo>
                  <a:pt x="7175469" y="4037410"/>
                </a:lnTo>
                <a:lnTo>
                  <a:pt x="0" y="40374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4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9443212" y="1028700"/>
            <a:ext cx="7244015" cy="3980945"/>
          </a:xfrm>
          <a:custGeom>
            <a:avLst/>
            <a:gdLst/>
            <a:ahLst/>
            <a:cxnLst/>
            <a:rect l="l" t="t" r="r" b="b"/>
            <a:pathLst>
              <a:path w="7244015" h="3980945">
                <a:moveTo>
                  <a:pt x="0" y="0"/>
                </a:moveTo>
                <a:lnTo>
                  <a:pt x="7244015" y="0"/>
                </a:lnTo>
                <a:lnTo>
                  <a:pt x="7244015" y="3980945"/>
                </a:lnTo>
                <a:lnTo>
                  <a:pt x="0" y="39809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587582" y="5738362"/>
            <a:ext cx="7383851" cy="3839993"/>
          </a:xfrm>
          <a:custGeom>
            <a:avLst/>
            <a:gdLst/>
            <a:ahLst/>
            <a:cxnLst/>
            <a:rect l="l" t="t" r="r" b="b"/>
            <a:pathLst>
              <a:path w="7383851" h="3839993">
                <a:moveTo>
                  <a:pt x="0" y="0"/>
                </a:moveTo>
                <a:lnTo>
                  <a:pt x="7383851" y="0"/>
                </a:lnTo>
                <a:lnTo>
                  <a:pt x="7383851" y="3839993"/>
                </a:lnTo>
                <a:lnTo>
                  <a:pt x="0" y="38399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9474153" y="5738362"/>
            <a:ext cx="7182133" cy="3746028"/>
          </a:xfrm>
          <a:custGeom>
            <a:avLst/>
            <a:gdLst/>
            <a:ahLst/>
            <a:cxnLst/>
            <a:rect l="l" t="t" r="r" b="b"/>
            <a:pathLst>
              <a:path w="7182133" h="3746028">
                <a:moveTo>
                  <a:pt x="0" y="0"/>
                </a:moveTo>
                <a:lnTo>
                  <a:pt x="7182133" y="0"/>
                </a:lnTo>
                <a:lnTo>
                  <a:pt x="7182133" y="3746028"/>
                </a:lnTo>
                <a:lnTo>
                  <a:pt x="0" y="37460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6180411" y="9026170"/>
            <a:ext cx="1078889" cy="65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2674" y="486684"/>
            <a:ext cx="1782165" cy="45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1ST VERSION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772770" y="617451"/>
            <a:ext cx="1866452" cy="45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2ND VERSION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8448" y="5227326"/>
            <a:ext cx="2013689" cy="45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3RD VERSION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772770" y="5279945"/>
            <a:ext cx="2078525" cy="45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4TH  VERSION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w="9525" cap="flat">
            <a:solidFill>
              <a:srgbClr val="ACB5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180411" y="9026170"/>
            <a:ext cx="1078889" cy="65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28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85627" y="3633174"/>
            <a:ext cx="11116746" cy="2706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79"/>
              </a:lnSpc>
              <a:spcBef>
                <a:spcPct val="0"/>
              </a:spcBef>
            </a:pPr>
            <a:r>
              <a:rPr lang="en-US" sz="15699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ROC CURVES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24516">
            <a:off x="-764107" y="6183780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092187">
            <a:off x="6924851" y="-300121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1092187">
            <a:off x="16450498" y="991884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w="9525" cap="flat">
            <a:solidFill>
              <a:srgbClr val="ACB5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2615962" y="684126"/>
            <a:ext cx="6322785" cy="4403905"/>
          </a:xfrm>
          <a:custGeom>
            <a:avLst/>
            <a:gdLst/>
            <a:ahLst/>
            <a:cxnLst/>
            <a:rect l="l" t="t" r="r" b="b"/>
            <a:pathLst>
              <a:path w="6322785" h="4403905">
                <a:moveTo>
                  <a:pt x="0" y="0"/>
                </a:moveTo>
                <a:lnTo>
                  <a:pt x="6322785" y="0"/>
                </a:lnTo>
                <a:lnTo>
                  <a:pt x="6322785" y="4403906"/>
                </a:lnTo>
                <a:lnTo>
                  <a:pt x="0" y="44039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19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9476258" y="727751"/>
            <a:ext cx="6195780" cy="4360280"/>
          </a:xfrm>
          <a:custGeom>
            <a:avLst/>
            <a:gdLst/>
            <a:ahLst/>
            <a:cxnLst/>
            <a:rect l="l" t="t" r="r" b="b"/>
            <a:pathLst>
              <a:path w="6195780" h="4360280">
                <a:moveTo>
                  <a:pt x="0" y="0"/>
                </a:moveTo>
                <a:lnTo>
                  <a:pt x="6195780" y="0"/>
                </a:lnTo>
                <a:lnTo>
                  <a:pt x="6195780" y="4360281"/>
                </a:lnTo>
                <a:lnTo>
                  <a:pt x="0" y="43602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2615962" y="5489872"/>
            <a:ext cx="6322785" cy="4360280"/>
          </a:xfrm>
          <a:custGeom>
            <a:avLst/>
            <a:gdLst/>
            <a:ahLst/>
            <a:cxnLst/>
            <a:rect l="l" t="t" r="r" b="b"/>
            <a:pathLst>
              <a:path w="6322785" h="4360280">
                <a:moveTo>
                  <a:pt x="0" y="0"/>
                </a:moveTo>
                <a:lnTo>
                  <a:pt x="6322785" y="0"/>
                </a:lnTo>
                <a:lnTo>
                  <a:pt x="6322785" y="4360280"/>
                </a:lnTo>
                <a:lnTo>
                  <a:pt x="0" y="4360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45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9443212" y="5466565"/>
            <a:ext cx="6228827" cy="4383587"/>
          </a:xfrm>
          <a:custGeom>
            <a:avLst/>
            <a:gdLst/>
            <a:ahLst/>
            <a:cxnLst/>
            <a:rect l="l" t="t" r="r" b="b"/>
            <a:pathLst>
              <a:path w="6228827" h="4383587">
                <a:moveTo>
                  <a:pt x="0" y="0"/>
                </a:moveTo>
                <a:lnTo>
                  <a:pt x="6228826" y="0"/>
                </a:lnTo>
                <a:lnTo>
                  <a:pt x="6228826" y="4383587"/>
                </a:lnTo>
                <a:lnTo>
                  <a:pt x="0" y="43835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5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6180411" y="9026170"/>
            <a:ext cx="1078889" cy="65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29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2674" y="486684"/>
            <a:ext cx="1782165" cy="45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1ST VERSION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772770" y="617451"/>
            <a:ext cx="1866452" cy="45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2ND VERSION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6912" y="5399890"/>
            <a:ext cx="2013689" cy="45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3RD VERSION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791454" y="5399890"/>
            <a:ext cx="2078525" cy="45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4TH  VERSION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24516">
            <a:off x="-764107" y="6183780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092187">
            <a:off x="6924851" y="-300121"/>
            <a:ext cx="2306579" cy="2098702"/>
          </a:xfrm>
          <a:custGeom>
            <a:avLst/>
            <a:gdLst/>
            <a:ahLst/>
            <a:cxnLst/>
            <a:rect l="l" t="t" r="r" b="b"/>
            <a:pathLst>
              <a:path w="2306579" h="2098702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w="9525" cap="flat">
            <a:solidFill>
              <a:srgbClr val="ACB5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6180411" y="9026170"/>
            <a:ext cx="1078889" cy="65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601969" y="460105"/>
            <a:ext cx="9084061" cy="787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5"/>
              </a:lnSpc>
            </a:pPr>
            <a:r>
              <a:rPr lang="en-US" sz="6578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RELATED PAPER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7021" y="1032784"/>
            <a:ext cx="15796293" cy="8781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9"/>
              </a:lnSpc>
            </a:pPr>
            <a:r>
              <a:rPr lang="en-US" sz="2937" b="1" u="sng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Paper:</a:t>
            </a:r>
          </a:p>
          <a:p>
            <a:pPr algn="l">
              <a:lnSpc>
                <a:spcPts val="3819"/>
              </a:lnSpc>
            </a:pPr>
            <a:r>
              <a:rPr lang="en-US" sz="2937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U-Sleep: Resilient High-Frequency Sleep Staging</a:t>
            </a:r>
          </a:p>
          <a:p>
            <a:pPr algn="l">
              <a:lnSpc>
                <a:spcPts val="3819"/>
              </a:lnSpc>
            </a:pPr>
            <a:r>
              <a:rPr lang="en-US" sz="2937" b="1" u="sng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</a:t>
            </a:r>
            <a:r>
              <a:rPr lang="en-US" sz="2937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</a:p>
          <a:p>
            <a:pPr algn="l">
              <a:lnSpc>
                <a:spcPts val="3819"/>
              </a:lnSpc>
            </a:pPr>
            <a:r>
              <a:rPr lang="en-US" sz="2937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Develop a robust deep learning model for automatic sleep stage classification that works with limited channels (EEG + EOG) across different datasets and clinical settings.</a:t>
            </a:r>
          </a:p>
          <a:p>
            <a:pPr algn="l">
              <a:lnSpc>
                <a:spcPts val="3819"/>
              </a:lnSpc>
            </a:pPr>
            <a:r>
              <a:rPr lang="en-US" sz="2937" b="1" u="sng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Methodology:</a:t>
            </a:r>
          </a:p>
          <a:p>
            <a:pPr marL="634260" lvl="1" indent="-317130" algn="l">
              <a:lnSpc>
                <a:spcPts val="3819"/>
              </a:lnSpc>
              <a:buFont typeface="Arial"/>
              <a:buChar char="•"/>
            </a:pPr>
            <a:r>
              <a:rPr lang="en-US" sz="2937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Uses single EEG + single EOG channels</a:t>
            </a:r>
          </a:p>
          <a:p>
            <a:pPr marL="634260" lvl="1" indent="-317130" algn="l">
              <a:lnSpc>
                <a:spcPts val="3819"/>
              </a:lnSpc>
              <a:buFont typeface="Arial"/>
              <a:buChar char="•"/>
            </a:pPr>
            <a:r>
              <a:rPr lang="en-US" sz="2937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Fully Convolutional Neural Network (U-Net inspired architecture)</a:t>
            </a:r>
          </a:p>
          <a:p>
            <a:pPr marL="634260" lvl="1" indent="-317130" algn="l">
              <a:lnSpc>
                <a:spcPts val="3819"/>
              </a:lnSpc>
              <a:buFont typeface="Arial"/>
              <a:buChar char="•"/>
            </a:pPr>
            <a:r>
              <a:rPr lang="en-US" sz="2937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Trained on large-scale PSG data including MESA dataset</a:t>
            </a:r>
          </a:p>
          <a:p>
            <a:pPr marL="634260" lvl="1" indent="-317130" algn="l">
              <a:lnSpc>
                <a:spcPts val="3819"/>
              </a:lnSpc>
              <a:buFont typeface="Arial"/>
              <a:buChar char="•"/>
            </a:pPr>
            <a:r>
              <a:rPr lang="en-US" sz="2937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Works with different sampling rates and electrode placements</a:t>
            </a:r>
          </a:p>
          <a:p>
            <a:pPr marL="634260" lvl="1" indent="-317130" algn="l">
              <a:lnSpc>
                <a:spcPts val="3819"/>
              </a:lnSpc>
              <a:buFont typeface="Arial"/>
              <a:buChar char="•"/>
            </a:pPr>
            <a:r>
              <a:rPr lang="en-US" sz="2937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Classify sleep into five stages: Wake, N1, N2, N3, REM</a:t>
            </a:r>
          </a:p>
          <a:p>
            <a:pPr algn="l">
              <a:lnSpc>
                <a:spcPts val="3819"/>
              </a:lnSpc>
            </a:pPr>
            <a:r>
              <a:rPr lang="en-US" sz="2937" b="1" u="sng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Results:</a:t>
            </a:r>
          </a:p>
          <a:p>
            <a:pPr marL="634260" lvl="1" indent="-317130" algn="l">
              <a:lnSpc>
                <a:spcPts val="3819"/>
              </a:lnSpc>
              <a:buFont typeface="Arial"/>
              <a:buChar char="•"/>
            </a:pPr>
            <a:r>
              <a:rPr lang="en-US" sz="2937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High performance on MESA and multiple other datasets</a:t>
            </a:r>
          </a:p>
          <a:p>
            <a:pPr marL="634260" lvl="1" indent="-317130" algn="l">
              <a:lnSpc>
                <a:spcPts val="3819"/>
              </a:lnSpc>
              <a:buFont typeface="Arial"/>
              <a:buChar char="•"/>
            </a:pPr>
            <a:r>
              <a:rPr lang="en-US" sz="2937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Mean F1 score around 0.79 across stages (comparable to human experts)</a:t>
            </a:r>
          </a:p>
          <a:p>
            <a:pPr marL="634260" lvl="1" indent="-317130" algn="l">
              <a:lnSpc>
                <a:spcPts val="3819"/>
              </a:lnSpc>
              <a:buFont typeface="Arial"/>
              <a:buChar char="•"/>
            </a:pPr>
            <a:r>
              <a:rPr lang="en-US" sz="2937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Strong results with limited channels (EEG + EOG)</a:t>
            </a:r>
          </a:p>
          <a:p>
            <a:pPr marL="634260" lvl="1" indent="-317130" algn="l">
              <a:lnSpc>
                <a:spcPts val="3819"/>
              </a:lnSpc>
              <a:buFont typeface="Arial"/>
              <a:buChar char="•"/>
            </a:pPr>
            <a:r>
              <a:rPr lang="en-US" sz="2937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Very resilient and generalizable to new clinical data</a:t>
            </a:r>
          </a:p>
          <a:p>
            <a:pPr algn="l">
              <a:lnSpc>
                <a:spcPts val="2937"/>
              </a:lnSpc>
            </a:pPr>
            <a:endParaRPr lang="en-US" sz="2937">
              <a:solidFill>
                <a:srgbClr val="3A3D81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937"/>
              </a:lnSpc>
            </a:pPr>
            <a:endParaRPr lang="en-US" sz="2937">
              <a:solidFill>
                <a:srgbClr val="3A3D81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937"/>
              </a:lnSpc>
            </a:pPr>
            <a:endParaRPr lang="en-US" sz="2937">
              <a:solidFill>
                <a:srgbClr val="3A3D81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5346342" y="4781601"/>
            <a:ext cx="762956" cy="762956"/>
          </a:xfrm>
          <a:custGeom>
            <a:avLst/>
            <a:gdLst/>
            <a:ahLst/>
            <a:cxnLst/>
            <a:rect l="l" t="t" r="r" b="b"/>
            <a:pathLst>
              <a:path w="762956" h="762956">
                <a:moveTo>
                  <a:pt x="0" y="0"/>
                </a:moveTo>
                <a:lnTo>
                  <a:pt x="762956" y="0"/>
                </a:lnTo>
                <a:lnTo>
                  <a:pt x="762956" y="762955"/>
                </a:lnTo>
                <a:lnTo>
                  <a:pt x="0" y="7629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6647328" y="3092357"/>
            <a:ext cx="611972" cy="611972"/>
          </a:xfrm>
          <a:custGeom>
            <a:avLst/>
            <a:gdLst/>
            <a:ahLst/>
            <a:cxnLst/>
            <a:rect l="l" t="t" r="r" b="b"/>
            <a:pathLst>
              <a:path w="611972" h="611972">
                <a:moveTo>
                  <a:pt x="0" y="0"/>
                </a:moveTo>
                <a:lnTo>
                  <a:pt x="611972" y="0"/>
                </a:lnTo>
                <a:lnTo>
                  <a:pt x="611972" y="611972"/>
                </a:lnTo>
                <a:lnTo>
                  <a:pt x="0" y="611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5727820" y="8004329"/>
            <a:ext cx="488969" cy="488969"/>
          </a:xfrm>
          <a:custGeom>
            <a:avLst/>
            <a:gdLst/>
            <a:ahLst/>
            <a:cxnLst/>
            <a:rect l="l" t="t" r="r" b="b"/>
            <a:pathLst>
              <a:path w="488969" h="488969">
                <a:moveTo>
                  <a:pt x="0" y="0"/>
                </a:moveTo>
                <a:lnTo>
                  <a:pt x="488970" y="0"/>
                </a:lnTo>
                <a:lnTo>
                  <a:pt x="488970" y="488970"/>
                </a:lnTo>
                <a:lnTo>
                  <a:pt x="0" y="4889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-593986">
            <a:off x="16468738" y="331568"/>
            <a:ext cx="1581124" cy="1394264"/>
          </a:xfrm>
          <a:custGeom>
            <a:avLst/>
            <a:gdLst/>
            <a:ahLst/>
            <a:cxnLst/>
            <a:rect l="l" t="t" r="r" b="b"/>
            <a:pathLst>
              <a:path w="1581124" h="1394264">
                <a:moveTo>
                  <a:pt x="0" y="0"/>
                </a:moveTo>
                <a:lnTo>
                  <a:pt x="1581124" y="0"/>
                </a:lnTo>
                <a:lnTo>
                  <a:pt x="1581124" y="1394264"/>
                </a:lnTo>
                <a:lnTo>
                  <a:pt x="0" y="1394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3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52943" y="3362433"/>
            <a:ext cx="12382114" cy="4200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46"/>
              </a:lnSpc>
            </a:pPr>
            <a:r>
              <a:rPr lang="en-US" sz="1874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THANK</a:t>
            </a:r>
          </a:p>
          <a:p>
            <a:pPr algn="ctr">
              <a:lnSpc>
                <a:spcPts val="15746"/>
              </a:lnSpc>
            </a:pPr>
            <a:r>
              <a:rPr lang="en-US" sz="1874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YOU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231506"/>
            <a:ext cx="2126257" cy="2320320"/>
          </a:xfrm>
          <a:custGeom>
            <a:avLst/>
            <a:gdLst/>
            <a:ahLst/>
            <a:cxnLst/>
            <a:rect l="l" t="t" r="r" b="b"/>
            <a:pathLst>
              <a:path w="2126257" h="2320320">
                <a:moveTo>
                  <a:pt x="0" y="0"/>
                </a:moveTo>
                <a:lnTo>
                  <a:pt x="2126257" y="0"/>
                </a:lnTo>
                <a:lnTo>
                  <a:pt x="2126257" y="2320320"/>
                </a:lnTo>
                <a:lnTo>
                  <a:pt x="0" y="23203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2972457">
            <a:off x="13894399" y="606301"/>
            <a:ext cx="6729803" cy="3891049"/>
          </a:xfrm>
          <a:custGeom>
            <a:avLst/>
            <a:gdLst/>
            <a:ahLst/>
            <a:cxnLst/>
            <a:rect l="l" t="t" r="r" b="b"/>
            <a:pathLst>
              <a:path w="6729803" h="3891049">
                <a:moveTo>
                  <a:pt x="0" y="0"/>
                </a:moveTo>
                <a:lnTo>
                  <a:pt x="6729802" y="0"/>
                </a:lnTo>
                <a:lnTo>
                  <a:pt x="6729802" y="3891050"/>
                </a:lnTo>
                <a:lnTo>
                  <a:pt x="0" y="3891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3705420">
            <a:off x="-2336201" y="6377726"/>
            <a:ext cx="6729803" cy="3891049"/>
          </a:xfrm>
          <a:custGeom>
            <a:avLst/>
            <a:gdLst/>
            <a:ahLst/>
            <a:cxnLst/>
            <a:rect l="l" t="t" r="r" b="b"/>
            <a:pathLst>
              <a:path w="6729803" h="3891049">
                <a:moveTo>
                  <a:pt x="0" y="0"/>
                </a:moveTo>
                <a:lnTo>
                  <a:pt x="6729802" y="0"/>
                </a:lnTo>
                <a:lnTo>
                  <a:pt x="6729802" y="3891049"/>
                </a:lnTo>
                <a:lnTo>
                  <a:pt x="0" y="38910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1189</Words>
  <Application>Microsoft Office PowerPoint</Application>
  <PresentationFormat>Custom</PresentationFormat>
  <Paragraphs>225</Paragraphs>
  <Slides>33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5" baseType="lpstr">
      <vt:lpstr>Arial</vt:lpstr>
      <vt:lpstr>Amaranth Bold</vt:lpstr>
      <vt:lpstr>Tarif Bold</vt:lpstr>
      <vt:lpstr>Lilita One</vt:lpstr>
      <vt:lpstr>Canva Sans Bold</vt:lpstr>
      <vt:lpstr>Canva Sans</vt:lpstr>
      <vt:lpstr>Calibri</vt:lpstr>
      <vt:lpstr>เอฟซี เดซี่ Bold</vt:lpstr>
      <vt:lpstr>Montserrat Ultra-Bold</vt:lpstr>
      <vt:lpstr>Jet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Illustrated Human Respiratory System Group Project Presentation</dc:title>
  <dc:creator>dell</dc:creator>
  <cp:lastModifiedBy>sohaila elsayed</cp:lastModifiedBy>
  <cp:revision>2</cp:revision>
  <dcterms:created xsi:type="dcterms:W3CDTF">2006-08-16T00:00:00Z</dcterms:created>
  <dcterms:modified xsi:type="dcterms:W3CDTF">2026-05-11T11:35:57Z</dcterms:modified>
  <dc:identifier>DAHDXHXjHkI</dc:identifier>
</cp:coreProperties>
</file>