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Amaranth Bold" charset="1" panose="02000500000000020004"/>
      <p:regular r:id="rId39"/>
    </p:embeddedFont>
    <p:embeddedFont>
      <p:font typeface="เอฟซี เดซี่ Bold" charset="1" panose="020B0500040200020003"/>
      <p:regular r:id="rId40"/>
    </p:embeddedFont>
    <p:embeddedFont>
      <p:font typeface="Tarif Bold" charset="1" panose="00000800000000000000"/>
      <p:regular r:id="rId41"/>
    </p:embeddedFont>
    <p:embeddedFont>
      <p:font typeface="Lilita One" charset="1" panose="02000000000000000000"/>
      <p:regular r:id="rId42"/>
    </p:embeddedFont>
    <p:embeddedFont>
      <p:font typeface="Canva Sans Bold" charset="1" panose="020B0803030501040103"/>
      <p:regular r:id="rId43"/>
    </p:embeddedFont>
    <p:embeddedFont>
      <p:font typeface="Jet" charset="1" panose="02060603050605020204"/>
      <p:regular r:id="rId44"/>
    </p:embeddedFont>
    <p:embeddedFont>
      <p:font typeface="Canva Sans" charset="1" panose="020B0503030501040103"/>
      <p:regular r:id="rId45"/>
    </p:embeddedFont>
    <p:embeddedFont>
      <p:font typeface="Montserrat Ultra-Bold" charset="1" panose="0000090000000000000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5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00529" y="510486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63948" y="2318602"/>
            <a:ext cx="13760104" cy="5649796"/>
            <a:chOff x="0" y="0"/>
            <a:chExt cx="3624060" cy="14880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24061" cy="1488012"/>
            </a:xfrm>
            <a:custGeom>
              <a:avLst/>
              <a:gdLst/>
              <a:ahLst/>
              <a:cxnLst/>
              <a:rect r="r" b="b" t="t" l="l"/>
              <a:pathLst>
                <a:path h="1488012" w="3624061">
                  <a:moveTo>
                    <a:pt x="18567" y="0"/>
                  </a:moveTo>
                  <a:lnTo>
                    <a:pt x="3605493" y="0"/>
                  </a:lnTo>
                  <a:cubicBezTo>
                    <a:pt x="3615748" y="0"/>
                    <a:pt x="3624061" y="8313"/>
                    <a:pt x="3624061" y="18567"/>
                  </a:cubicBezTo>
                  <a:lnTo>
                    <a:pt x="3624061" y="1469445"/>
                  </a:lnTo>
                  <a:cubicBezTo>
                    <a:pt x="3624061" y="1479699"/>
                    <a:pt x="3615748" y="1488012"/>
                    <a:pt x="3605493" y="1488012"/>
                  </a:cubicBezTo>
                  <a:lnTo>
                    <a:pt x="18567" y="1488012"/>
                  </a:lnTo>
                  <a:cubicBezTo>
                    <a:pt x="8313" y="1488012"/>
                    <a:pt x="0" y="1479699"/>
                    <a:pt x="0" y="1469445"/>
                  </a:cubicBezTo>
                  <a:lnTo>
                    <a:pt x="0" y="18567"/>
                  </a:lnTo>
                  <a:cubicBezTo>
                    <a:pt x="0" y="8313"/>
                    <a:pt x="8313" y="0"/>
                    <a:pt x="18567" y="0"/>
                  </a:cubicBezTo>
                  <a:close/>
                </a:path>
              </a:pathLst>
            </a:custGeom>
            <a:ln w="114300" cap="rnd">
              <a:solidFill>
                <a:srgbClr val="3A3D81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24060" cy="152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557261" y="2613095"/>
            <a:ext cx="13173477" cy="5060811"/>
          </a:xfrm>
          <a:custGeom>
            <a:avLst/>
            <a:gdLst/>
            <a:ahLst/>
            <a:cxnLst/>
            <a:rect r="r" b="b" t="t" l="l"/>
            <a:pathLst>
              <a:path h="5060811" w="13173477">
                <a:moveTo>
                  <a:pt x="0" y="0"/>
                </a:moveTo>
                <a:lnTo>
                  <a:pt x="13173478" y="0"/>
                </a:lnTo>
                <a:lnTo>
                  <a:pt x="13173478" y="5060810"/>
                </a:lnTo>
                <a:lnTo>
                  <a:pt x="0" y="5060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85547" y="3630489"/>
            <a:ext cx="12516906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5"/>
              </a:lnSpc>
            </a:pPr>
            <a:r>
              <a:rPr lang="en-US" sz="8100" b="true">
                <a:solidFill>
                  <a:srgbClr val="FFFFFF"/>
                </a:solidFill>
                <a:latin typeface="Amaranth Bold"/>
                <a:ea typeface="Amaranth Bold"/>
                <a:cs typeface="Amaranth Bold"/>
                <a:sym typeface="Amaranth Bold"/>
              </a:rPr>
              <a:t>SLEEP STAGES CLASSIFICATION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-3600450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81942" y="378063"/>
            <a:ext cx="1778239" cy="1940539"/>
          </a:xfrm>
          <a:custGeom>
            <a:avLst/>
            <a:gdLst/>
            <a:ahLst/>
            <a:cxnLst/>
            <a:rect r="r" b="b" t="t" l="l"/>
            <a:pathLst>
              <a:path h="1940539" w="1778239">
                <a:moveTo>
                  <a:pt x="0" y="0"/>
                </a:moveTo>
                <a:lnTo>
                  <a:pt x="1778240" y="0"/>
                </a:lnTo>
                <a:lnTo>
                  <a:pt x="1778240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867127" y="8476669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43550" y="5649789"/>
            <a:ext cx="7200900" cy="118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6899" b="true">
                <a:solidFill>
                  <a:srgbClr val="FFFFFF"/>
                </a:solidFill>
                <a:latin typeface="เอฟซี เดซี่ Bold"/>
                <a:ea typeface="เอฟซี เดซี่ Bold"/>
                <a:cs typeface="เอฟซี เดซี่ Bold"/>
                <a:sym typeface="เอฟซี เดซี่ Bold"/>
              </a:rPr>
              <a:t>USING DEEP LEARNING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30554" y="8024928"/>
            <a:ext cx="4426893" cy="169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4"/>
              </a:lnSpc>
            </a:pPr>
            <a:r>
              <a:rPr lang="en-US" sz="3239" b="true">
                <a:solidFill>
                  <a:srgbClr val="2C2B73"/>
                </a:solidFill>
                <a:latin typeface="Tarif Bold"/>
                <a:ea typeface="Tarif Bold"/>
                <a:cs typeface="Tarif Bold"/>
                <a:sym typeface="Tarif Bold"/>
              </a:rPr>
              <a:t>supervised by : </a:t>
            </a:r>
          </a:p>
          <a:p>
            <a:pPr algn="ctr">
              <a:lnSpc>
                <a:spcPts val="4534"/>
              </a:lnSpc>
            </a:pPr>
            <a:r>
              <a:rPr lang="en-US" sz="3239" b="true">
                <a:solidFill>
                  <a:srgbClr val="2C2B73"/>
                </a:solidFill>
                <a:latin typeface="Tarif Bold"/>
                <a:ea typeface="Tarif Bold"/>
                <a:cs typeface="Tarif Bold"/>
                <a:sym typeface="Tarif Bold"/>
              </a:rPr>
              <a:t>DR. Ibrahim Sadek</a:t>
            </a:r>
          </a:p>
          <a:p>
            <a:pPr algn="ctr">
              <a:lnSpc>
                <a:spcPts val="4534"/>
              </a:lnSpc>
              <a:spcBef>
                <a:spcPct val="0"/>
              </a:spcBef>
            </a:pPr>
            <a:r>
              <a:rPr lang="en-US" b="true" sz="3239">
                <a:solidFill>
                  <a:srgbClr val="2C2B73"/>
                </a:solidFill>
                <a:latin typeface="Tarif Bold"/>
                <a:ea typeface="Tarif Bold"/>
                <a:cs typeface="Tarif Bold"/>
                <a:sym typeface="Tarif Bold"/>
              </a:rPr>
              <a:t>ENG. Veronica William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6257" y="926627"/>
            <a:ext cx="7274364" cy="130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0"/>
              </a:lnSpc>
            </a:pPr>
            <a:r>
              <a:rPr lang="en-US" sz="11012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OUR TEAM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231506"/>
            <a:ext cx="2126257" cy="2320320"/>
          </a:xfrm>
          <a:custGeom>
            <a:avLst/>
            <a:gdLst/>
            <a:ahLst/>
            <a:cxnLst/>
            <a:rect r="r" b="b" t="t" l="l"/>
            <a:pathLst>
              <a:path h="2320320" w="2126257">
                <a:moveTo>
                  <a:pt x="0" y="0"/>
                </a:moveTo>
                <a:lnTo>
                  <a:pt x="2126257" y="0"/>
                </a:lnTo>
                <a:lnTo>
                  <a:pt x="2126257" y="2320320"/>
                </a:lnTo>
                <a:lnTo>
                  <a:pt x="0" y="2320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705420">
            <a:off x="14471845" y="114402"/>
            <a:ext cx="6729803" cy="3891049"/>
          </a:xfrm>
          <a:custGeom>
            <a:avLst/>
            <a:gdLst/>
            <a:ahLst/>
            <a:cxnLst/>
            <a:rect r="r" b="b" t="t" l="l"/>
            <a:pathLst>
              <a:path h="3891049" w="6729803">
                <a:moveTo>
                  <a:pt x="0" y="0"/>
                </a:moveTo>
                <a:lnTo>
                  <a:pt x="6729803" y="0"/>
                </a:lnTo>
                <a:lnTo>
                  <a:pt x="6729803" y="3891050"/>
                </a:lnTo>
                <a:lnTo>
                  <a:pt x="0" y="389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705420">
            <a:off x="-3923237" y="6163857"/>
            <a:ext cx="6729803" cy="3891049"/>
          </a:xfrm>
          <a:custGeom>
            <a:avLst/>
            <a:gdLst/>
            <a:ahLst/>
            <a:cxnLst/>
            <a:rect r="r" b="b" t="t" l="l"/>
            <a:pathLst>
              <a:path h="3891049" w="6729803">
                <a:moveTo>
                  <a:pt x="0" y="0"/>
                </a:moveTo>
                <a:lnTo>
                  <a:pt x="6729803" y="0"/>
                </a:lnTo>
                <a:lnTo>
                  <a:pt x="6729803" y="3891049"/>
                </a:lnTo>
                <a:lnTo>
                  <a:pt x="0" y="389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57220" y="2933133"/>
            <a:ext cx="13939164" cy="428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97"/>
              </a:lnSpc>
            </a:pPr>
            <a:r>
              <a:rPr lang="en-US" sz="4567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WAFAA HASSAN RAMADAN</a:t>
            </a:r>
          </a:p>
          <a:p>
            <a:pPr algn="ctr">
              <a:lnSpc>
                <a:spcPts val="6897"/>
              </a:lnSpc>
            </a:pPr>
          </a:p>
          <a:p>
            <a:pPr algn="l">
              <a:lnSpc>
                <a:spcPts val="6897"/>
              </a:lnSpc>
            </a:pPr>
            <a:r>
              <a:rPr lang="en-US" sz="4567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SOHAILA ELSAYED IBRAHIM</a:t>
            </a:r>
          </a:p>
          <a:p>
            <a:pPr algn="ctr">
              <a:lnSpc>
                <a:spcPts val="6897"/>
              </a:lnSpc>
            </a:pPr>
          </a:p>
          <a:p>
            <a:pPr algn="l">
              <a:lnSpc>
                <a:spcPts val="6897"/>
              </a:lnSpc>
            </a:pPr>
            <a:r>
              <a:rPr lang="en-US" sz="4567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MENNAT ALLAH MOHAMED ELSAYED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265381">
            <a:off x="12795934" y="5093278"/>
            <a:ext cx="7200900" cy="7200900"/>
          </a:xfrm>
          <a:custGeom>
            <a:avLst/>
            <a:gdLst/>
            <a:ahLst/>
            <a:cxnLst/>
            <a:rect r="r" b="b" t="t" l="l"/>
            <a:pathLst>
              <a:path h="7200900" w="7200900">
                <a:moveTo>
                  <a:pt x="0" y="0"/>
                </a:moveTo>
                <a:lnTo>
                  <a:pt x="7200900" y="0"/>
                </a:lnTo>
                <a:lnTo>
                  <a:pt x="72009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177410" y="-1214117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32185" y="7677423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36120" y="8651484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5604" y="-288678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7041" y="166273"/>
            <a:ext cx="1778239" cy="1940539"/>
          </a:xfrm>
          <a:custGeom>
            <a:avLst/>
            <a:gdLst/>
            <a:ahLst/>
            <a:cxnLst/>
            <a:rect r="r" b="b" t="t" l="l"/>
            <a:pathLst>
              <a:path h="1940539" w="1778239">
                <a:moveTo>
                  <a:pt x="0" y="0"/>
                </a:moveTo>
                <a:lnTo>
                  <a:pt x="1778239" y="0"/>
                </a:lnTo>
                <a:lnTo>
                  <a:pt x="1778239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25602" y="2758349"/>
            <a:ext cx="7862398" cy="5241599"/>
          </a:xfrm>
          <a:custGeom>
            <a:avLst/>
            <a:gdLst/>
            <a:ahLst/>
            <a:cxnLst/>
            <a:rect r="r" b="b" t="t" l="l"/>
            <a:pathLst>
              <a:path h="5241599" w="7862398">
                <a:moveTo>
                  <a:pt x="0" y="0"/>
                </a:moveTo>
                <a:lnTo>
                  <a:pt x="7862398" y="0"/>
                </a:lnTo>
                <a:lnTo>
                  <a:pt x="7862398" y="5241598"/>
                </a:lnTo>
                <a:lnTo>
                  <a:pt x="0" y="52415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37148" y="2021087"/>
            <a:ext cx="10076870" cy="8484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5"/>
              </a:lnSpc>
            </a:pP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Develop a deep learning–b</a:t>
            </a: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ased model for automatic sleep stage classification from physiological signals.</a:t>
            </a:r>
          </a:p>
          <a:p>
            <a:pPr algn="l">
              <a:lnSpc>
                <a:spcPts val="4475"/>
              </a:lnSpc>
            </a:pPr>
          </a:p>
          <a:p>
            <a:pPr algn="l">
              <a:lnSpc>
                <a:spcPts val="4475"/>
              </a:lnSpc>
            </a:pP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The model analyzes time-series signal data and classifies each segment into one of the five sleep stages:</a:t>
            </a:r>
          </a:p>
          <a:p>
            <a:pPr algn="l">
              <a:lnSpc>
                <a:spcPts val="4475"/>
              </a:lnSpc>
            </a:pP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Wake, N1, N2, N3, and REM.</a:t>
            </a:r>
          </a:p>
          <a:p>
            <a:pPr algn="l">
              <a:lnSpc>
                <a:spcPts val="4475"/>
              </a:lnSpc>
            </a:pPr>
          </a:p>
          <a:p>
            <a:pPr algn="l">
              <a:lnSpc>
                <a:spcPts val="4475"/>
              </a:lnSpc>
            </a:pP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The proposed system aims to improve the efficiency and accuracy of sleep analysis.</a:t>
            </a:r>
          </a:p>
          <a:p>
            <a:pPr algn="l">
              <a:lnSpc>
                <a:spcPts val="4475"/>
              </a:lnSpc>
            </a:pPr>
            <a:r>
              <a:rPr lang="en-US" sz="3524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It can assist clinicians by reducing manual scoring effort and increasing the reliability of sleep stage detection.</a:t>
            </a:r>
          </a:p>
          <a:p>
            <a:pPr algn="l">
              <a:lnSpc>
                <a:spcPts val="447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797509" y="873208"/>
            <a:ext cx="10290356" cy="123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INT</a:t>
            </a: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80411" y="9026170"/>
            <a:ext cx="1078889" cy="65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177410" y="-1214117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32185" y="7677423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46708" y="8907715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35604" y="-288678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47041" y="230911"/>
            <a:ext cx="1778239" cy="1940539"/>
          </a:xfrm>
          <a:custGeom>
            <a:avLst/>
            <a:gdLst/>
            <a:ahLst/>
            <a:cxnLst/>
            <a:rect r="r" b="b" t="t" l="l"/>
            <a:pathLst>
              <a:path h="1940539" w="1778239">
                <a:moveTo>
                  <a:pt x="0" y="0"/>
                </a:moveTo>
                <a:lnTo>
                  <a:pt x="1778239" y="0"/>
                </a:lnTo>
                <a:lnTo>
                  <a:pt x="1778239" y="1940538"/>
                </a:lnTo>
                <a:lnTo>
                  <a:pt x="0" y="19405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63802" y="2343936"/>
            <a:ext cx="8592835" cy="4790923"/>
          </a:xfrm>
          <a:custGeom>
            <a:avLst/>
            <a:gdLst/>
            <a:ahLst/>
            <a:cxnLst/>
            <a:rect r="r" b="b" t="t" l="l"/>
            <a:pathLst>
              <a:path h="4790923" w="8592835">
                <a:moveTo>
                  <a:pt x="0" y="0"/>
                </a:moveTo>
                <a:lnTo>
                  <a:pt x="8592835" y="0"/>
                </a:lnTo>
                <a:lnTo>
                  <a:pt x="8592835" y="4790923"/>
                </a:lnTo>
                <a:lnTo>
                  <a:pt x="0" y="47909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35758" y="592861"/>
            <a:ext cx="10290356" cy="123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80411" y="9026170"/>
            <a:ext cx="1078889" cy="65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324886"/>
            <a:ext cx="8726522" cy="606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444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MESA</a:t>
            </a:r>
            <a:r>
              <a:rPr lang="en-US" sz="3444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(Multi-Ethnic Study of Atherosclerosis) Sleep Dataset is a large-scale, comprehensive collection of physiological sleep data.</a:t>
            </a:r>
          </a:p>
          <a:p>
            <a:pPr algn="l">
              <a:lnSpc>
                <a:spcPts val="4373"/>
              </a:lnSpc>
            </a:pPr>
          </a:p>
          <a:p>
            <a:pPr algn="l">
              <a:lnSpc>
                <a:spcPts val="4373"/>
              </a:lnSpc>
            </a:pPr>
            <a:r>
              <a:rPr lang="en-US" sz="3444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It is hosted by the National Sleep Research Resource (NSRR) and was originally designed to study the links between sleep characteristics and cardiovascular health across a diverse demographic of over 2,000 participants.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593986">
            <a:off x="11683099" y="-163141"/>
            <a:ext cx="1581124" cy="1394264"/>
          </a:xfrm>
          <a:custGeom>
            <a:avLst/>
            <a:gdLst/>
            <a:ahLst/>
            <a:cxnLst/>
            <a:rect r="r" b="b" t="t" l="l"/>
            <a:pathLst>
              <a:path h="1394264" w="1581124">
                <a:moveTo>
                  <a:pt x="0" y="0"/>
                </a:moveTo>
                <a:lnTo>
                  <a:pt x="1581123" y="0"/>
                </a:lnTo>
                <a:lnTo>
                  <a:pt x="1581123" y="1394264"/>
                </a:lnTo>
                <a:lnTo>
                  <a:pt x="0" y="13942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3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26268" y="1581848"/>
            <a:ext cx="14717220" cy="748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9"/>
              </a:lnSpc>
            </a:pPr>
            <a:r>
              <a:rPr lang="en-US" sz="3558" u="sng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Dataset Structure:</a:t>
            </a:r>
          </a:p>
          <a:p>
            <a:pPr algn="l">
              <a:lnSpc>
                <a:spcPts val="4519"/>
              </a:lnSpc>
            </a:pPr>
            <a:r>
              <a:rPr lang="en-US" sz="3558" u="sng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Signal Data (X):</a:t>
            </a:r>
          </a:p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The input data consists of time-series physiological signals. These signals provide valuable information about brain activity and physiological changes occurring during different sleep stages.</a:t>
            </a:r>
          </a:p>
          <a:p>
            <a:pPr algn="l">
              <a:lnSpc>
                <a:spcPts val="4519"/>
              </a:lnSpc>
            </a:pPr>
          </a:p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Each signal sample is represented as a sequence of numerical values describing signal amplitude over time. These signals include measurements of:                                                                         </a:t>
            </a:r>
            <a:r>
              <a:rPr lang="en-US" sz="3558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[EKG, EOG-L, EOG-R, EMG, EEG1, EEG2, EEG3, Pres, Flow, Snore, Thor, Abdo, Leg, Therm, Pos, EKG_Off, EOG-L_Off, EOG-R_Off, EMG_Off, EEG1_Off, EEG2_Off, EEG3_Off, Pleth, OxStatus, SpO2, HR, DHR]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35758" y="592861"/>
            <a:ext cx="10290356" cy="123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80411" y="9026170"/>
            <a:ext cx="1078889" cy="65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03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177410" y="-1214117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32185" y="7677423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46708" y="8907715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35604" y="-288678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8028" y="370011"/>
            <a:ext cx="1778239" cy="1940539"/>
          </a:xfrm>
          <a:custGeom>
            <a:avLst/>
            <a:gdLst/>
            <a:ahLst/>
            <a:cxnLst/>
            <a:rect r="r" b="b" t="t" l="l"/>
            <a:pathLst>
              <a:path h="1940539" w="1778239">
                <a:moveTo>
                  <a:pt x="0" y="0"/>
                </a:moveTo>
                <a:lnTo>
                  <a:pt x="1778240" y="0"/>
                </a:lnTo>
                <a:lnTo>
                  <a:pt x="1778240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3499" y="1952761"/>
            <a:ext cx="15930369" cy="467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2"/>
              </a:lnSpc>
            </a:pPr>
            <a:r>
              <a:rPr lang="en-US" sz="3337" u="sng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annotation (labels) (y)</a:t>
            </a:r>
          </a:p>
          <a:p>
            <a:pPr algn="l">
              <a:lnSpc>
                <a:spcPts val="4672"/>
              </a:lnSpc>
            </a:pPr>
            <a:r>
              <a:rPr lang="en-US" sz="3337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The XML file acts as a "Time-Stamped Log" or "Metadata Map" created by sleep technicians to describe the continuous signals found in the EDF file.</a:t>
            </a:r>
          </a:p>
          <a:p>
            <a:pPr algn="l">
              <a:lnSpc>
                <a:spcPts val="4672"/>
              </a:lnSpc>
            </a:pPr>
            <a:r>
              <a:rPr lang="en-US" sz="3337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Sleep Staging :Divides the entire recording into 30-second epochs.</a:t>
            </a:r>
          </a:p>
          <a:p>
            <a:pPr algn="l">
              <a:lnSpc>
                <a:spcPts val="4672"/>
              </a:lnSpc>
            </a:pPr>
            <a:r>
              <a:rPr lang="en-US" sz="3337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Scored Events (Clinical Observations):Respiratory Events - Oxygen Desaturation - Limb Movements</a:t>
            </a:r>
          </a:p>
          <a:p>
            <a:pPr algn="l">
              <a:lnSpc>
                <a:spcPts val="4672"/>
              </a:lnSpc>
            </a:pPr>
          </a:p>
          <a:p>
            <a:pPr algn="l">
              <a:lnSpc>
                <a:spcPts val="333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797509" y="873208"/>
            <a:ext cx="10290356" cy="123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180411" y="9026170"/>
            <a:ext cx="1078889" cy="65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04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177410" y="-1214117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32185" y="7677423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46708" y="8907715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35604" y="-288678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7041" y="338778"/>
            <a:ext cx="1778239" cy="1940539"/>
          </a:xfrm>
          <a:custGeom>
            <a:avLst/>
            <a:gdLst/>
            <a:ahLst/>
            <a:cxnLst/>
            <a:rect r="r" b="b" t="t" l="l"/>
            <a:pathLst>
              <a:path h="1940539" w="1778239">
                <a:moveTo>
                  <a:pt x="0" y="0"/>
                </a:moveTo>
                <a:lnTo>
                  <a:pt x="1778239" y="0"/>
                </a:lnTo>
                <a:lnTo>
                  <a:pt x="1778239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1" id="11"/>
          <p:cNvGraphicFramePr/>
          <p:nvPr/>
        </p:nvGraphicFramePr>
        <p:xfrm>
          <a:off x="5138252" y="5273061"/>
          <a:ext cx="5657850" cy="3771900"/>
        </p:xfrm>
        <a:graphic>
          <a:graphicData uri="http://schemas.openxmlformats.org/presentationml/2006/ole">
            <p:oleObj imgW="6781800" imgH="49022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0224" y="2301658"/>
            <a:ext cx="15679631" cy="7254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b="true" sz="3558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EOG:</a:t>
            </a: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Non-invasive electrophysiological technique that records corneo-retinal standing potential</a:t>
            </a:r>
          </a:p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Captures horizontal </a:t>
            </a: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and vertical eye movements through potential differences between electrodes</a:t>
            </a:r>
          </a:p>
          <a:p>
            <a:pPr algn="l">
              <a:lnSpc>
                <a:spcPts val="4519"/>
              </a:lnSpc>
            </a:pPr>
          </a:p>
          <a:p>
            <a:pPr algn="l">
              <a:lnSpc>
                <a:spcPts val="4519"/>
              </a:lnSpc>
            </a:pPr>
            <a:r>
              <a:rPr lang="en-US" sz="3558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Advantages:</a:t>
            </a:r>
          </a:p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ess invasive than EEG (fewer electrodes)</a:t>
            </a:r>
          </a:p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Strong correlation with REM sleep (eye movements)</a:t>
            </a:r>
          </a:p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More suitable for wearable devices</a:t>
            </a:r>
          </a:p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Lower cost and easier setup</a:t>
            </a:r>
          </a:p>
          <a:p>
            <a:pPr algn="l">
              <a:lnSpc>
                <a:spcPts val="4519"/>
              </a:lnSpc>
            </a:pPr>
          </a:p>
          <a:p>
            <a:pPr algn="l">
              <a:lnSpc>
                <a:spcPts val="3273"/>
              </a:lnSpc>
            </a:pPr>
          </a:p>
          <a:p>
            <a:pPr algn="l">
              <a:lnSpc>
                <a:spcPts val="451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177410" y="-1214117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32185" y="7677423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46708" y="8907715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1145318"/>
            <a:ext cx="14026114" cy="1399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8"/>
              </a:lnSpc>
            </a:pPr>
            <a:r>
              <a:rPr lang="en-US" sz="6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ELECTROOCULOGRAPHY (EOG) SIGNAL</a:t>
            </a:r>
          </a:p>
          <a:p>
            <a:pPr algn="ctr">
              <a:lnSpc>
                <a:spcPts val="522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180411" y="9026170"/>
            <a:ext cx="1078889" cy="65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05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382206" y="40127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84320"/>
            <a:ext cx="15679631" cy="559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Develop a robust deep learning framework for multi-class sleep stage classification (Wake, N1, N2, N3, REM) using single-channel EOG</a:t>
            </a:r>
          </a:p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Transition from conventional multi-channel EEG toward scal</a:t>
            </a: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able, wearable, </a:t>
            </a: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and minimally intrusive solutions</a:t>
            </a:r>
          </a:p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Address inherent class imbalance in sleep stage distribution through advanced sampling and weighting strategies</a:t>
            </a:r>
          </a:p>
          <a:p>
            <a:pPr algn="l" marL="768237" indent="-384118" lvl="1">
              <a:lnSpc>
                <a:spcPts val="4519"/>
              </a:lnSpc>
              <a:buFont typeface="Arial"/>
              <a:buChar char="•"/>
            </a:pP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Achi</a:t>
            </a:r>
            <a:r>
              <a:rPr lang="en-US" sz="3558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eve competitive performance (~80% test accuracy) with a computationally lightweight architecture suitable for edge devices</a:t>
            </a:r>
          </a:p>
          <a:p>
            <a:pPr algn="l">
              <a:lnSpc>
                <a:spcPts val="2811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09490" y="865135"/>
            <a:ext cx="14026114" cy="1399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8"/>
              </a:lnSpc>
            </a:pPr>
            <a:r>
              <a:rPr lang="en-US" sz="6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PROJECT OBJECTIVES</a:t>
            </a:r>
          </a:p>
          <a:p>
            <a:pPr algn="ctr">
              <a:lnSpc>
                <a:spcPts val="522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180411" y="9026170"/>
            <a:ext cx="1078889" cy="65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06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177410" y="-1214117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32185" y="7677423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46708" y="8907715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35604" y="-288678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8028" y="370011"/>
            <a:ext cx="1778239" cy="1940539"/>
          </a:xfrm>
          <a:custGeom>
            <a:avLst/>
            <a:gdLst/>
            <a:ahLst/>
            <a:cxnLst/>
            <a:rect r="r" b="b" t="t" l="l"/>
            <a:pathLst>
              <a:path h="1940539" w="1778239">
                <a:moveTo>
                  <a:pt x="0" y="0"/>
                </a:moveTo>
                <a:lnTo>
                  <a:pt x="1778240" y="0"/>
                </a:lnTo>
                <a:lnTo>
                  <a:pt x="1778240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87099">
            <a:off x="6698342" y="1836448"/>
            <a:ext cx="1862915" cy="2524879"/>
            <a:chOff x="0" y="0"/>
            <a:chExt cx="2483887" cy="3366506"/>
          </a:xfrm>
        </p:grpSpPr>
        <p:sp>
          <p:nvSpPr>
            <p:cNvPr name="Freeform 3" id="3"/>
            <p:cNvSpPr/>
            <p:nvPr/>
          </p:nvSpPr>
          <p:spPr>
            <a:xfrm>
              <a:off x="31479" y="436664"/>
              <a:ext cx="1851858" cy="2700091"/>
            </a:xfrm>
            <a:custGeom>
              <a:avLst/>
              <a:gdLst/>
              <a:ahLst/>
              <a:cxnLst/>
              <a:rect r="r" b="b" t="t" l="l"/>
              <a:pathLst>
                <a:path h="2700091" w="1851858">
                  <a:moveTo>
                    <a:pt x="0" y="0"/>
                  </a:moveTo>
                  <a:quadBezTo>
                    <a:pt x="2102159" y="547853"/>
                    <a:pt x="1818028" y="2700091"/>
                  </a:quadBezTo>
                </a:path>
              </a:pathLst>
            </a:custGeom>
            <a:ln cap="flat" w="63500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4" id="4"/>
            <p:cNvGrpSpPr/>
            <p:nvPr/>
          </p:nvGrpSpPr>
          <p:grpSpPr>
            <a:xfrm rot="-10800000">
              <a:off x="1537047" y="2884562"/>
              <a:ext cx="624919" cy="481944"/>
              <a:chOff x="0" y="0"/>
              <a:chExt cx="922188" cy="7112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9366E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7" id="7"/>
          <p:cNvGrpSpPr/>
          <p:nvPr/>
        </p:nvGrpSpPr>
        <p:grpSpPr>
          <a:xfrm rot="-2991433">
            <a:off x="6748657" y="6055600"/>
            <a:ext cx="2227752" cy="765522"/>
            <a:chOff x="0" y="0"/>
            <a:chExt cx="2970337" cy="1020697"/>
          </a:xfrm>
        </p:grpSpPr>
        <p:sp>
          <p:nvSpPr>
            <p:cNvPr name="Freeform 8" id="8"/>
            <p:cNvSpPr/>
            <p:nvPr/>
          </p:nvSpPr>
          <p:spPr>
            <a:xfrm>
              <a:off x="20844" y="424106"/>
              <a:ext cx="2525812" cy="561497"/>
            </a:xfrm>
            <a:custGeom>
              <a:avLst/>
              <a:gdLst/>
              <a:ahLst/>
              <a:cxnLst/>
              <a:rect r="r" b="b" t="t" l="l"/>
              <a:pathLst>
                <a:path h="561497" w="2525812">
                  <a:moveTo>
                    <a:pt x="0" y="0"/>
                  </a:moveTo>
                  <a:quadBezTo>
                    <a:pt x="1521044" y="1122994"/>
                    <a:pt x="2525812" y="0"/>
                  </a:quadBezTo>
                </a:path>
              </a:pathLst>
            </a:custGeom>
            <a:ln cap="flat" w="70187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9" id="9"/>
            <p:cNvGrpSpPr/>
            <p:nvPr/>
          </p:nvGrpSpPr>
          <p:grpSpPr>
            <a:xfrm rot="3079347">
              <a:off x="2201208" y="169720"/>
              <a:ext cx="690730" cy="532698"/>
              <a:chOff x="0" y="0"/>
              <a:chExt cx="922188" cy="711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38AEB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754820" y="4150795"/>
            <a:ext cx="5185998" cy="1821289"/>
            <a:chOff x="0" y="0"/>
            <a:chExt cx="1365860" cy="4796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FFBEC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6370" y="4530659"/>
            <a:ext cx="1061561" cy="106156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4667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57931" y="6909462"/>
            <a:ext cx="5185998" cy="1821289"/>
            <a:chOff x="0" y="0"/>
            <a:chExt cx="1365860" cy="4796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B5EBE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519570" y="7289326"/>
            <a:ext cx="1061561" cy="106156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AEB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82475" y="1046782"/>
            <a:ext cx="5185998" cy="1821289"/>
            <a:chOff x="0" y="0"/>
            <a:chExt cx="1365860" cy="4796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92812" y="1898258"/>
            <a:ext cx="1872443" cy="2380286"/>
            <a:chOff x="0" y="0"/>
            <a:chExt cx="2496590" cy="3173715"/>
          </a:xfrm>
        </p:grpSpPr>
        <p:sp>
          <p:nvSpPr>
            <p:cNvPr name="Freeform 28" id="28"/>
            <p:cNvSpPr/>
            <p:nvPr/>
          </p:nvSpPr>
          <p:spPr>
            <a:xfrm>
              <a:off x="567627" y="431425"/>
              <a:ext cx="1896200" cy="2555025"/>
            </a:xfrm>
            <a:custGeom>
              <a:avLst/>
              <a:gdLst/>
              <a:ahLst/>
              <a:cxnLst/>
              <a:rect r="r" b="b" t="t" l="l"/>
              <a:pathLst>
                <a:path h="2555025" w="1896200">
                  <a:moveTo>
                    <a:pt x="1896200" y="0"/>
                  </a:moveTo>
                  <a:quadBezTo>
                    <a:pt x="98542" y="191355"/>
                    <a:pt x="0" y="2555025"/>
                  </a:quadBezTo>
                </a:path>
              </a:pathLst>
            </a:custGeom>
            <a:ln cap="flat" w="59435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29" id="29"/>
            <p:cNvGrpSpPr/>
            <p:nvPr/>
          </p:nvGrpSpPr>
          <p:grpSpPr>
            <a:xfrm rot="-10800000">
              <a:off x="268937" y="2722623"/>
              <a:ext cx="584916" cy="451093"/>
              <a:chOff x="0" y="0"/>
              <a:chExt cx="922188" cy="7112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004AA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2898871">
            <a:off x="10958437" y="3408272"/>
            <a:ext cx="1992961" cy="2533492"/>
            <a:chOff x="0" y="0"/>
            <a:chExt cx="2657281" cy="3377989"/>
          </a:xfrm>
        </p:grpSpPr>
        <p:sp>
          <p:nvSpPr>
            <p:cNvPr name="Freeform 33" id="33"/>
            <p:cNvSpPr/>
            <p:nvPr/>
          </p:nvSpPr>
          <p:spPr>
            <a:xfrm>
              <a:off x="604162" y="459193"/>
              <a:ext cx="2018247" cy="2719477"/>
            </a:xfrm>
            <a:custGeom>
              <a:avLst/>
              <a:gdLst/>
              <a:ahLst/>
              <a:cxnLst/>
              <a:rect r="r" b="b" t="t" l="l"/>
              <a:pathLst>
                <a:path h="2719477" w="2018247">
                  <a:moveTo>
                    <a:pt x="2018247" y="0"/>
                  </a:moveTo>
                  <a:quadBezTo>
                    <a:pt x="104885" y="203672"/>
                    <a:pt x="0" y="2719477"/>
                  </a:quadBezTo>
                </a:path>
              </a:pathLst>
            </a:custGeom>
            <a:ln cap="flat" w="63261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34" id="34"/>
            <p:cNvGrpSpPr/>
            <p:nvPr/>
          </p:nvGrpSpPr>
          <p:grpSpPr>
            <a:xfrm rot="-10800000">
              <a:off x="286247" y="2897862"/>
              <a:ext cx="622563" cy="480127"/>
              <a:chOff x="0" y="0"/>
              <a:chExt cx="922188" cy="7112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DDA70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2187886" y="3880599"/>
            <a:ext cx="5185998" cy="1821289"/>
            <a:chOff x="0" y="0"/>
            <a:chExt cx="1365860" cy="47968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FFE8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324025" y="1426646"/>
            <a:ext cx="1061561" cy="1061561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6E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614884" y="4278544"/>
            <a:ext cx="1061561" cy="1061561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A707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752626" y="4431507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05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366116" y="6909462"/>
            <a:ext cx="5185998" cy="1821289"/>
            <a:chOff x="0" y="0"/>
            <a:chExt cx="1365860" cy="47968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507777" y="7233339"/>
            <a:ext cx="1061561" cy="1061561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CA62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334112" y="4683621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368643" y="4402453"/>
            <a:ext cx="3179291" cy="104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7"/>
              </a:lnSpc>
              <a:spcBef>
                <a:spcPct val="0"/>
              </a:spcBef>
            </a:pPr>
            <a:r>
              <a:rPr lang="en-US" b="true" sz="3005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Signal Preprocessing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657312" y="7442288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770832" y="7313239"/>
            <a:ext cx="4170690" cy="9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839" b="true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Model</a:t>
            </a:r>
          </a:p>
          <a:p>
            <a:pPr algn="l" marL="0" indent="0" lvl="0">
              <a:lnSpc>
                <a:spcPts val="3974"/>
              </a:lnSpc>
              <a:spcBef>
                <a:spcPct val="0"/>
              </a:spcBef>
            </a:pPr>
            <a:r>
              <a:rPr lang="en-US" b="true" sz="2839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Architecture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461766" y="1579608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623031" y="1416412"/>
            <a:ext cx="3649848" cy="98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27"/>
              </a:lnSpc>
              <a:spcBef>
                <a:spcPct val="0"/>
              </a:spcBef>
            </a:pPr>
            <a:r>
              <a:rPr lang="en-US" b="true" sz="287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 reading &amp; labeling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645519" y="7386301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894352" y="4501448"/>
            <a:ext cx="2627064" cy="54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1"/>
              </a:lnSpc>
              <a:spcBef>
                <a:spcPct val="0"/>
              </a:spcBef>
            </a:pPr>
            <a:r>
              <a:rPr lang="en-US" b="true" sz="3144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Tr</a:t>
            </a:r>
            <a:r>
              <a:rPr lang="en-US" b="true" sz="3144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aining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328541" y="4544172"/>
            <a:ext cx="5630917" cy="88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93"/>
              </a:lnSpc>
              <a:spcBef>
                <a:spcPct val="0"/>
              </a:spcBef>
            </a:pPr>
            <a:r>
              <a:rPr lang="en-US" sz="6409" strike="noStrike" u="none">
                <a:solidFill>
                  <a:srgbClr val="1C1C1A"/>
                </a:solidFill>
                <a:latin typeface="Lilita One"/>
                <a:ea typeface="Lilita One"/>
                <a:cs typeface="Lilita One"/>
                <a:sym typeface="Lilita One"/>
              </a:rPr>
              <a:t>pipeline</a:t>
            </a:r>
          </a:p>
        </p:txBody>
      </p:sp>
      <p:grpSp>
        <p:nvGrpSpPr>
          <p:cNvPr name="Group 62" id="62"/>
          <p:cNvGrpSpPr/>
          <p:nvPr/>
        </p:nvGrpSpPr>
        <p:grpSpPr>
          <a:xfrm rot="-748405">
            <a:off x="5751923" y="4365189"/>
            <a:ext cx="2057316" cy="1055333"/>
            <a:chOff x="0" y="0"/>
            <a:chExt cx="2743089" cy="1407111"/>
          </a:xfrm>
        </p:grpSpPr>
        <p:sp>
          <p:nvSpPr>
            <p:cNvPr name="Freeform 63" id="63"/>
            <p:cNvSpPr/>
            <p:nvPr/>
          </p:nvSpPr>
          <p:spPr>
            <a:xfrm>
              <a:off x="24263" y="297706"/>
              <a:ext cx="2321887" cy="801820"/>
            </a:xfrm>
            <a:custGeom>
              <a:avLst/>
              <a:gdLst/>
              <a:ahLst/>
              <a:cxnLst/>
              <a:rect r="r" b="b" t="t" l="l"/>
              <a:pathLst>
                <a:path h="801820" w="2321887">
                  <a:moveTo>
                    <a:pt x="0" y="256762"/>
                  </a:moveTo>
                  <a:quadBezTo>
                    <a:pt x="1640855" y="-453736"/>
                    <a:pt x="2321887" y="801820"/>
                  </a:quadBezTo>
                </a:path>
              </a:pathLst>
            </a:custGeom>
            <a:ln cap="flat" w="63500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64" id="64"/>
            <p:cNvGrpSpPr/>
            <p:nvPr/>
          </p:nvGrpSpPr>
          <p:grpSpPr>
            <a:xfrm rot="8100000">
              <a:off x="2039294" y="774804"/>
              <a:ext cx="624919" cy="481944"/>
              <a:chOff x="0" y="0"/>
              <a:chExt cx="922188" cy="7112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E4667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grpSp>
        <p:nvGrpSpPr>
          <p:cNvPr name="Group 67" id="67"/>
          <p:cNvGrpSpPr/>
          <p:nvPr/>
        </p:nvGrpSpPr>
        <p:grpSpPr>
          <a:xfrm rot="0">
            <a:off x="10755523" y="785867"/>
            <a:ext cx="5185998" cy="1821289"/>
            <a:chOff x="0" y="0"/>
            <a:chExt cx="1365860" cy="47968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65860" cy="479681"/>
            </a:xfrm>
            <a:custGeom>
              <a:avLst/>
              <a:gdLst/>
              <a:ahLst/>
              <a:cxnLst/>
              <a:rect r="r" b="b" t="t" l="l"/>
              <a:pathLst>
                <a:path h="479681" w="1365860">
                  <a:moveTo>
                    <a:pt x="149285" y="0"/>
                  </a:moveTo>
                  <a:lnTo>
                    <a:pt x="1216575" y="0"/>
                  </a:lnTo>
                  <a:cubicBezTo>
                    <a:pt x="1299022" y="0"/>
                    <a:pt x="1365860" y="66837"/>
                    <a:pt x="1365860" y="149285"/>
                  </a:cubicBezTo>
                  <a:lnTo>
                    <a:pt x="1365860" y="330396"/>
                  </a:lnTo>
                  <a:cubicBezTo>
                    <a:pt x="1365860" y="412844"/>
                    <a:pt x="1299022" y="479681"/>
                    <a:pt x="1216575" y="479681"/>
                  </a:cubicBezTo>
                  <a:lnTo>
                    <a:pt x="149285" y="479681"/>
                  </a:lnTo>
                  <a:cubicBezTo>
                    <a:pt x="66837" y="479681"/>
                    <a:pt x="0" y="412844"/>
                    <a:pt x="0" y="330396"/>
                  </a:cubicBezTo>
                  <a:lnTo>
                    <a:pt x="0" y="149285"/>
                  </a:lnTo>
                  <a:cubicBezTo>
                    <a:pt x="0" y="66837"/>
                    <a:pt x="66837" y="0"/>
                    <a:pt x="149285" y="0"/>
                  </a:cubicBezTo>
                  <a:close/>
                </a:path>
              </a:pathLst>
            </a:custGeom>
            <a:solidFill>
              <a:srgbClr val="C2DC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365860" cy="527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2396482" y="1443492"/>
            <a:ext cx="2542211" cy="5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2"/>
              </a:lnSpc>
              <a:spcBef>
                <a:spcPct val="0"/>
              </a:spcBef>
            </a:pPr>
            <a:r>
              <a:rPr lang="en-US" b="true" sz="301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Evaluat</a:t>
            </a:r>
            <a:r>
              <a:rPr lang="en-US" b="true" sz="301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ion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1182521" y="1183812"/>
            <a:ext cx="1061561" cy="1061561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1320263" y="1336774"/>
            <a:ext cx="759319" cy="67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529"/>
              </a:lnSpc>
            </a:pPr>
            <a:r>
              <a:rPr lang="en-US" b="true" sz="3949" spc="16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06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3958289" y="7505609"/>
            <a:ext cx="2542211" cy="5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2"/>
              </a:lnSpc>
              <a:spcBef>
                <a:spcPct val="0"/>
              </a:spcBef>
            </a:pPr>
            <a:r>
              <a:rPr lang="en-US" b="true" sz="3016">
                <a:solidFill>
                  <a:srgbClr val="1C1C1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Preparation</a:t>
            </a:r>
          </a:p>
        </p:txBody>
      </p:sp>
      <p:grpSp>
        <p:nvGrpSpPr>
          <p:cNvPr name="Group 76" id="76"/>
          <p:cNvGrpSpPr/>
          <p:nvPr/>
        </p:nvGrpSpPr>
        <p:grpSpPr>
          <a:xfrm rot="10634144">
            <a:off x="9203799" y="5970899"/>
            <a:ext cx="1862915" cy="2524879"/>
            <a:chOff x="0" y="0"/>
            <a:chExt cx="2483887" cy="3366506"/>
          </a:xfrm>
        </p:grpSpPr>
        <p:sp>
          <p:nvSpPr>
            <p:cNvPr name="Freeform 77" id="77"/>
            <p:cNvSpPr/>
            <p:nvPr/>
          </p:nvSpPr>
          <p:spPr>
            <a:xfrm>
              <a:off x="31479" y="436664"/>
              <a:ext cx="1851858" cy="2700091"/>
            </a:xfrm>
            <a:custGeom>
              <a:avLst/>
              <a:gdLst/>
              <a:ahLst/>
              <a:cxnLst/>
              <a:rect r="r" b="b" t="t" l="l"/>
              <a:pathLst>
                <a:path h="2700091" w="1851858">
                  <a:moveTo>
                    <a:pt x="0" y="0"/>
                  </a:moveTo>
                  <a:quadBezTo>
                    <a:pt x="2102159" y="547853"/>
                    <a:pt x="1818028" y="2700091"/>
                  </a:quadBezTo>
                </a:path>
              </a:pathLst>
            </a:custGeom>
            <a:ln cap="flat" w="63500">
              <a:solidFill>
                <a:srgbClr val="8D9193"/>
              </a:solidFill>
              <a:prstDash val="sysDot"/>
              <a:headEnd type="none" len="sm" w="sm"/>
              <a:tailEnd type="triangle" len="med" w="lg"/>
            </a:ln>
          </p:spPr>
        </p:sp>
        <p:grpSp>
          <p:nvGrpSpPr>
            <p:cNvPr name="Group 78" id="78"/>
            <p:cNvGrpSpPr/>
            <p:nvPr/>
          </p:nvGrpSpPr>
          <p:grpSpPr>
            <a:xfrm rot="-10800000">
              <a:off x="1537047" y="2884562"/>
              <a:ext cx="624919" cy="481944"/>
              <a:chOff x="0" y="0"/>
              <a:chExt cx="922188" cy="71120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75415" y="89768"/>
                <a:ext cx="771359" cy="621432"/>
              </a:xfrm>
              <a:custGeom>
                <a:avLst/>
                <a:gdLst/>
                <a:ahLst/>
                <a:cxnLst/>
                <a:rect r="r" b="b" t="t" l="l"/>
                <a:pathLst>
                  <a:path h="621432" w="771359">
                    <a:moveTo>
                      <a:pt x="475539" y="48834"/>
                    </a:moveTo>
                    <a:lnTo>
                      <a:pt x="756913" y="482830"/>
                    </a:lnTo>
                    <a:cubicBezTo>
                      <a:pt x="774811" y="510436"/>
                      <a:pt x="776173" y="545621"/>
                      <a:pt x="760464" y="574528"/>
                    </a:cubicBezTo>
                    <a:cubicBezTo>
                      <a:pt x="744754" y="603435"/>
                      <a:pt x="714490" y="621432"/>
                      <a:pt x="681590" y="621432"/>
                    </a:cubicBezTo>
                    <a:lnTo>
                      <a:pt x="89767" y="621432"/>
                    </a:lnTo>
                    <a:cubicBezTo>
                      <a:pt x="56867" y="621432"/>
                      <a:pt x="26604" y="603435"/>
                      <a:pt x="10894" y="574528"/>
                    </a:cubicBezTo>
                    <a:cubicBezTo>
                      <a:pt x="-4815" y="545621"/>
                      <a:pt x="-3453" y="510436"/>
                      <a:pt x="14445" y="482830"/>
                    </a:cubicBezTo>
                    <a:lnTo>
                      <a:pt x="295819" y="48834"/>
                    </a:lnTo>
                    <a:cubicBezTo>
                      <a:pt x="315563" y="18381"/>
                      <a:pt x="349386" y="0"/>
                      <a:pt x="385679" y="0"/>
                    </a:cubicBezTo>
                    <a:cubicBezTo>
                      <a:pt x="421972" y="0"/>
                      <a:pt x="455795" y="18381"/>
                      <a:pt x="475539" y="48834"/>
                    </a:cubicBezTo>
                    <a:close/>
                  </a:path>
                </a:pathLst>
              </a:custGeom>
              <a:solidFill>
                <a:srgbClr val="4CA62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144092" y="292100"/>
                <a:ext cx="634004" cy="368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6"/>
                  </a:lnSpc>
                </a:pPr>
              </a:p>
            </p:txBody>
          </p:sp>
        </p:grpSp>
      </p:grpSp>
      <p:sp>
        <p:nvSpPr>
          <p:cNvPr name="TextBox 81" id="81"/>
          <p:cNvSpPr txBox="true"/>
          <p:nvPr/>
        </p:nvSpPr>
        <p:spPr>
          <a:xfrm rot="0">
            <a:off x="16180411" y="9026170"/>
            <a:ext cx="1078889" cy="65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07</a:t>
            </a:r>
          </a:p>
        </p:txBody>
      </p:sp>
      <p:sp>
        <p:nvSpPr>
          <p:cNvPr name="AutoShape 82" id="82"/>
          <p:cNvSpPr/>
          <p:nvPr/>
        </p:nvSpPr>
        <p:spPr>
          <a:xfrm>
            <a:off x="1613996" y="9486173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28985" y="599769"/>
            <a:ext cx="15330315" cy="3507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8"/>
              </a:lnSpc>
            </a:pPr>
            <a:r>
              <a:rPr lang="en-US" sz="10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 READING</a:t>
            </a:r>
          </a:p>
          <a:p>
            <a:pPr algn="ctr">
              <a:lnSpc>
                <a:spcPts val="9008"/>
              </a:lnSpc>
            </a:pPr>
          </a:p>
          <a:p>
            <a:pPr algn="ctr">
              <a:lnSpc>
                <a:spcPts val="9008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177410" y="-1214117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32185" y="7677423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46708" y="8907715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24167" y="-417000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0"/>
                </a:moveTo>
                <a:lnTo>
                  <a:pt x="2870266" y="0"/>
                </a:lnTo>
                <a:lnTo>
                  <a:pt x="2870266" y="1317379"/>
                </a:lnTo>
                <a:lnTo>
                  <a:pt x="0" y="1317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241689"/>
            <a:ext cx="1778239" cy="1940539"/>
          </a:xfrm>
          <a:custGeom>
            <a:avLst/>
            <a:gdLst/>
            <a:ahLst/>
            <a:cxnLst/>
            <a:rect r="r" b="b" t="t" l="l"/>
            <a:pathLst>
              <a:path h="1940539" w="1778239">
                <a:moveTo>
                  <a:pt x="0" y="0"/>
                </a:moveTo>
                <a:lnTo>
                  <a:pt x="1778239" y="0"/>
                </a:lnTo>
                <a:lnTo>
                  <a:pt x="1778239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2120577"/>
            <a:ext cx="9789532" cy="7038202"/>
          </a:xfrm>
          <a:custGeom>
            <a:avLst/>
            <a:gdLst/>
            <a:ahLst/>
            <a:cxnLst/>
            <a:rect r="r" b="b" t="t" l="l"/>
            <a:pathLst>
              <a:path h="7038202" w="9789532">
                <a:moveTo>
                  <a:pt x="0" y="0"/>
                </a:moveTo>
                <a:lnTo>
                  <a:pt x="9789532" y="0"/>
                </a:lnTo>
                <a:lnTo>
                  <a:pt x="9789532" y="7038203"/>
                </a:lnTo>
                <a:lnTo>
                  <a:pt x="0" y="70382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195" r="-3889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514132" y="2182228"/>
            <a:ext cx="5745168" cy="7095234"/>
          </a:xfrm>
          <a:custGeom>
            <a:avLst/>
            <a:gdLst/>
            <a:ahLst/>
            <a:cxnLst/>
            <a:rect r="r" b="b" t="t" l="l"/>
            <a:pathLst>
              <a:path h="7095234" w="5745168">
                <a:moveTo>
                  <a:pt x="0" y="0"/>
                </a:moveTo>
                <a:lnTo>
                  <a:pt x="5745168" y="0"/>
                </a:lnTo>
                <a:lnTo>
                  <a:pt x="5745168" y="7095234"/>
                </a:lnTo>
                <a:lnTo>
                  <a:pt x="0" y="70952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180411" y="9026170"/>
            <a:ext cx="1078889" cy="65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07865" y="843920"/>
            <a:ext cx="15672270" cy="121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8"/>
              </a:lnSpc>
            </a:pPr>
            <a:r>
              <a:rPr lang="en-US" sz="10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LABELING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177410" y="-1214117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32185" y="7677423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46708" y="8907715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94280" y="-39712"/>
            <a:ext cx="2870265" cy="1317378"/>
          </a:xfrm>
          <a:custGeom>
            <a:avLst/>
            <a:gdLst/>
            <a:ahLst/>
            <a:cxnLst/>
            <a:rect r="r" b="b" t="t" l="l"/>
            <a:pathLst>
              <a:path h="1317378" w="2870265">
                <a:moveTo>
                  <a:pt x="0" y="0"/>
                </a:moveTo>
                <a:lnTo>
                  <a:pt x="2870265" y="0"/>
                </a:lnTo>
                <a:lnTo>
                  <a:pt x="2870265" y="1317378"/>
                </a:lnTo>
                <a:lnTo>
                  <a:pt x="0" y="1317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615" y="370011"/>
            <a:ext cx="1778239" cy="1940539"/>
          </a:xfrm>
          <a:custGeom>
            <a:avLst/>
            <a:gdLst/>
            <a:ahLst/>
            <a:cxnLst/>
            <a:rect r="r" b="b" t="t" l="l"/>
            <a:pathLst>
              <a:path h="1940539" w="1778239">
                <a:moveTo>
                  <a:pt x="0" y="0"/>
                </a:moveTo>
                <a:lnTo>
                  <a:pt x="1778240" y="0"/>
                </a:lnTo>
                <a:lnTo>
                  <a:pt x="1778240" y="1940539"/>
                </a:lnTo>
                <a:lnTo>
                  <a:pt x="0" y="19405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80744" y="2146645"/>
            <a:ext cx="9126513" cy="7130818"/>
          </a:xfrm>
          <a:custGeom>
            <a:avLst/>
            <a:gdLst/>
            <a:ahLst/>
            <a:cxnLst/>
            <a:rect r="r" b="b" t="t" l="l"/>
            <a:pathLst>
              <a:path h="7130818" w="9126513">
                <a:moveTo>
                  <a:pt x="0" y="0"/>
                </a:moveTo>
                <a:lnTo>
                  <a:pt x="9126512" y="0"/>
                </a:lnTo>
                <a:lnTo>
                  <a:pt x="9126512" y="7130817"/>
                </a:lnTo>
                <a:lnTo>
                  <a:pt x="0" y="71308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80411" y="9026170"/>
            <a:ext cx="1078889" cy="65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675804" y="67552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1"/>
                </a:lnTo>
                <a:lnTo>
                  <a:pt x="0" y="2098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841596"/>
            <a:ext cx="16575087" cy="123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SIGNAL PREPROCESSING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38486" y="2973178"/>
            <a:ext cx="1020246" cy="944935"/>
          </a:xfrm>
          <a:custGeom>
            <a:avLst/>
            <a:gdLst/>
            <a:ahLst/>
            <a:cxnLst/>
            <a:rect r="r" b="b" t="t" l="l"/>
            <a:pathLst>
              <a:path h="944935" w="1020246">
                <a:moveTo>
                  <a:pt x="0" y="0"/>
                </a:moveTo>
                <a:lnTo>
                  <a:pt x="1020246" y="0"/>
                </a:lnTo>
                <a:lnTo>
                  <a:pt x="1020246" y="944935"/>
                </a:lnTo>
                <a:lnTo>
                  <a:pt x="0" y="94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180411" y="9026170"/>
            <a:ext cx="1078889" cy="65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01789" y="4028676"/>
            <a:ext cx="7557511" cy="1176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361" indent="-332681" lvl="1">
              <a:lnSpc>
                <a:spcPts val="4561"/>
              </a:lnSpc>
              <a:buFont typeface="Arial"/>
              <a:buChar char="•"/>
            </a:pPr>
            <a:r>
              <a:rPr lang="en-US" sz="308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Left EOG channel</a:t>
            </a:r>
          </a:p>
          <a:p>
            <a:pPr algn="l">
              <a:lnSpc>
                <a:spcPts val="456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418421" y="2906850"/>
            <a:ext cx="7185366" cy="150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5"/>
              </a:lnSpc>
            </a:pPr>
            <a:r>
              <a:rPr lang="en-US" sz="53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CHANNEL SELECTION:</a:t>
            </a:r>
          </a:p>
          <a:p>
            <a:pPr algn="ctr">
              <a:lnSpc>
                <a:spcPts val="4305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501517" y="3021150"/>
            <a:ext cx="1020246" cy="944935"/>
          </a:xfrm>
          <a:custGeom>
            <a:avLst/>
            <a:gdLst/>
            <a:ahLst/>
            <a:cxnLst/>
            <a:rect r="r" b="b" t="t" l="l"/>
            <a:pathLst>
              <a:path h="944935" w="1020246">
                <a:moveTo>
                  <a:pt x="0" y="0"/>
                </a:moveTo>
                <a:lnTo>
                  <a:pt x="1020246" y="0"/>
                </a:lnTo>
                <a:lnTo>
                  <a:pt x="1020246" y="944935"/>
                </a:lnTo>
                <a:lnTo>
                  <a:pt x="0" y="94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34692" y="2906850"/>
            <a:ext cx="3838072" cy="96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  <a:spcBef>
                <a:spcPct val="0"/>
              </a:spcBef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FI</a:t>
            </a: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LTERING: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8486" y="3908588"/>
            <a:ext cx="7739850" cy="2071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</a:p>
          <a:p>
            <a:pPr algn="l" marL="681414" indent="-340707" lvl="1">
              <a:lnSpc>
                <a:spcPts val="3156"/>
              </a:lnSpc>
              <a:buFont typeface="Arial"/>
              <a:buChar char="•"/>
            </a:pPr>
            <a:r>
              <a:rPr lang="en-US" sz="3156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Band-pass filter (0.3 – 30 Hz) applied to </a:t>
            </a:r>
            <a:r>
              <a:rPr lang="en-US" sz="3156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EOG signals.</a:t>
            </a:r>
          </a:p>
          <a:p>
            <a:pPr algn="l">
              <a:lnSpc>
                <a:spcPts val="3156"/>
              </a:lnSpc>
            </a:pPr>
          </a:p>
          <a:p>
            <a:pPr algn="l">
              <a:lnSpc>
                <a:spcPts val="315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94180" y="6835082"/>
            <a:ext cx="7557511" cy="231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361" indent="-332681" lvl="1">
              <a:lnSpc>
                <a:spcPts val="4561"/>
              </a:lnSpc>
              <a:buFont typeface="Arial"/>
              <a:buChar char="•"/>
            </a:pPr>
            <a:r>
              <a:rPr lang="en-US" sz="308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Z-score normalization</a:t>
            </a:r>
          </a:p>
          <a:p>
            <a:pPr algn="l" marL="665361" indent="-332681" lvl="1">
              <a:lnSpc>
                <a:spcPts val="4561"/>
              </a:lnSpc>
              <a:buFont typeface="Arial"/>
              <a:buChar char="•"/>
            </a:pPr>
            <a:r>
              <a:rPr lang="en-US" sz="308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Ensures stable training across different participants</a:t>
            </a:r>
          </a:p>
          <a:p>
            <a:pPr algn="l">
              <a:lnSpc>
                <a:spcPts val="456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92971" y="5703001"/>
            <a:ext cx="7185366" cy="150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5"/>
              </a:lnSpc>
            </a:pPr>
            <a:r>
              <a:rPr lang="en-US" sz="53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NORMALIZATION:</a:t>
            </a:r>
          </a:p>
          <a:p>
            <a:pPr algn="ctr">
              <a:lnSpc>
                <a:spcPts val="4305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93909" y="5827556"/>
            <a:ext cx="1020246" cy="944935"/>
          </a:xfrm>
          <a:custGeom>
            <a:avLst/>
            <a:gdLst/>
            <a:ahLst/>
            <a:cxnLst/>
            <a:rect r="r" b="b" t="t" l="l"/>
            <a:pathLst>
              <a:path h="944935" w="1020246">
                <a:moveTo>
                  <a:pt x="0" y="0"/>
                </a:moveTo>
                <a:lnTo>
                  <a:pt x="1020245" y="0"/>
                </a:lnTo>
                <a:lnTo>
                  <a:pt x="1020245" y="944935"/>
                </a:lnTo>
                <a:lnTo>
                  <a:pt x="0" y="94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01924" y="6426974"/>
            <a:ext cx="7557511" cy="289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361" indent="-332681" lvl="1">
              <a:lnSpc>
                <a:spcPts val="4561"/>
              </a:lnSpc>
              <a:buFont typeface="Arial"/>
              <a:buChar char="•"/>
            </a:pPr>
            <a:r>
              <a:rPr lang="en-US" sz="308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into 30 seconds to match and align the annotations, given a sampling rate of 256 Hz, each epoch contains 30*256 data points</a:t>
            </a:r>
          </a:p>
          <a:p>
            <a:pPr algn="l">
              <a:lnSpc>
                <a:spcPts val="4561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932774" y="5305148"/>
            <a:ext cx="7185366" cy="93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5"/>
              </a:lnSpc>
              <a:spcBef>
                <a:spcPct val="0"/>
              </a:spcBef>
            </a:pPr>
            <a:r>
              <a:rPr lang="en-US" sz="53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EPOCHING: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601653" y="5419448"/>
            <a:ext cx="1020246" cy="944935"/>
          </a:xfrm>
          <a:custGeom>
            <a:avLst/>
            <a:gdLst/>
            <a:ahLst/>
            <a:cxnLst/>
            <a:rect r="r" b="b" t="t" l="l"/>
            <a:pathLst>
              <a:path h="944935" w="1020246">
                <a:moveTo>
                  <a:pt x="0" y="0"/>
                </a:moveTo>
                <a:lnTo>
                  <a:pt x="1020246" y="0"/>
                </a:lnTo>
                <a:lnTo>
                  <a:pt x="1020246" y="944935"/>
                </a:lnTo>
                <a:lnTo>
                  <a:pt x="0" y="94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1153289" y="6854997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395263" y="2041235"/>
            <a:ext cx="13841961" cy="7284332"/>
          </a:xfrm>
          <a:custGeom>
            <a:avLst/>
            <a:gdLst/>
            <a:ahLst/>
            <a:cxnLst/>
            <a:rect r="r" b="b" t="t" l="l"/>
            <a:pathLst>
              <a:path h="7284332" w="13841961">
                <a:moveTo>
                  <a:pt x="0" y="0"/>
                </a:moveTo>
                <a:lnTo>
                  <a:pt x="13841961" y="0"/>
                </a:lnTo>
                <a:lnTo>
                  <a:pt x="13841961" y="7284332"/>
                </a:lnTo>
                <a:lnTo>
                  <a:pt x="0" y="7284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41596"/>
            <a:ext cx="16575087" cy="234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RAW VS PROCESSED.</a:t>
            </a:r>
          </a:p>
          <a:p>
            <a:pPr algn="ctr">
              <a:lnSpc>
                <a:spcPts val="88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1153289" y="6854997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715209" y="2107691"/>
            <a:ext cx="8857581" cy="7169771"/>
          </a:xfrm>
          <a:custGeom>
            <a:avLst/>
            <a:gdLst/>
            <a:ahLst/>
            <a:cxnLst/>
            <a:rect r="r" b="b" t="t" l="l"/>
            <a:pathLst>
              <a:path h="7169771" w="8857581">
                <a:moveTo>
                  <a:pt x="0" y="0"/>
                </a:moveTo>
                <a:lnTo>
                  <a:pt x="8857582" y="0"/>
                </a:lnTo>
                <a:lnTo>
                  <a:pt x="8857582" y="7169771"/>
                </a:lnTo>
                <a:lnTo>
                  <a:pt x="0" y="7169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1" r="0" b="-11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41596"/>
            <a:ext cx="16575087" cy="234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40"/>
              </a:lnSpc>
            </a:pPr>
            <a:r>
              <a:rPr lang="en-US" sz="1052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RAW VS PROCESSED.</a:t>
            </a:r>
          </a:p>
          <a:p>
            <a:pPr algn="ctr">
              <a:lnSpc>
                <a:spcPts val="88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568240" y="564963"/>
            <a:ext cx="19424480" cy="2140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4"/>
              </a:lnSpc>
            </a:pPr>
            <a:r>
              <a:rPr lang="en-US" sz="81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 PREPARATION &amp; SPLITTING</a:t>
            </a:r>
          </a:p>
          <a:p>
            <a:pPr algn="ctr">
              <a:lnSpc>
                <a:spcPts val="88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226722" y="1746257"/>
            <a:ext cx="11960335" cy="192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1"/>
              </a:lnSpc>
            </a:pPr>
          </a:p>
          <a:p>
            <a:pPr algn="l">
              <a:lnSpc>
                <a:spcPts val="2961"/>
              </a:lnSpc>
            </a:pPr>
            <a:r>
              <a:rPr lang="en-US" sz="296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Signals are divided into 30-second epochs (7680 samples at 256 Hz)</a:t>
            </a:r>
          </a:p>
          <a:p>
            <a:pPr algn="l">
              <a:lnSpc>
                <a:spcPts val="2961"/>
              </a:lnSpc>
            </a:pPr>
            <a:r>
              <a:rPr lang="en-US" sz="296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Each epoch is matched with its sleep stage label from the XML file</a:t>
            </a:r>
          </a:p>
          <a:p>
            <a:pPr algn="l">
              <a:lnSpc>
                <a:spcPts val="2961"/>
              </a:lnSpc>
            </a:pPr>
            <a:r>
              <a:rPr lang="en-US" sz="2961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Invalid epochs or those containing artifacts are discarded</a:t>
            </a:r>
          </a:p>
          <a:p>
            <a:pPr algn="l">
              <a:lnSpc>
                <a:spcPts val="296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249213"/>
            <a:ext cx="5198022" cy="105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4652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 ALIGNMENT:</a:t>
            </a:r>
          </a:p>
          <a:p>
            <a:pPr algn="l">
              <a:lnSpc>
                <a:spcPts val="390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960007" y="4040706"/>
            <a:ext cx="12227050" cy="156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9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Sleep stage labels are converted to </a:t>
            </a:r>
            <a:r>
              <a:rPr lang="en-US" sz="29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numerical values: 0 = Wake, 1 = N1, 2 = N2, 3 = N3, 4 = REM</a:t>
            </a:r>
          </a:p>
          <a:p>
            <a:pPr algn="l">
              <a:lnSpc>
                <a:spcPts val="2933"/>
              </a:lnSpc>
            </a:pPr>
          </a:p>
          <a:p>
            <a:pPr algn="l">
              <a:lnSpc>
                <a:spcPts val="293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124434"/>
            <a:ext cx="4915800" cy="5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4652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LABEL ENCODING: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24400" y="7535384"/>
            <a:ext cx="5727883" cy="198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3"/>
              </a:lnSpc>
            </a:pPr>
            <a:r>
              <a:rPr lang="en-US" sz="30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The dataset is divided i</a:t>
            </a:r>
            <a:r>
              <a:rPr lang="en-US" sz="30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nto:</a:t>
            </a:r>
          </a:p>
          <a:p>
            <a:pPr algn="l" marL="654891" indent="-327446" lvl="1">
              <a:lnSpc>
                <a:spcPts val="3033"/>
              </a:lnSpc>
              <a:buFont typeface="Arial"/>
              <a:buChar char="•"/>
            </a:pPr>
            <a:r>
              <a:rPr lang="en-US" sz="30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70% Training</a:t>
            </a:r>
          </a:p>
          <a:p>
            <a:pPr algn="l" marL="654891" indent="-327446" lvl="1">
              <a:lnSpc>
                <a:spcPts val="3033"/>
              </a:lnSpc>
              <a:buFont typeface="Arial"/>
              <a:buChar char="•"/>
            </a:pPr>
            <a:r>
              <a:rPr lang="en-US" sz="30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15% Validation</a:t>
            </a:r>
          </a:p>
          <a:p>
            <a:pPr algn="l" marL="654891" indent="-327446" lvl="1">
              <a:lnSpc>
                <a:spcPts val="3033"/>
              </a:lnSpc>
              <a:buFont typeface="Arial"/>
              <a:buChar char="•"/>
            </a:pPr>
            <a:r>
              <a:rPr lang="en-US" sz="3033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15% Test</a:t>
            </a:r>
          </a:p>
          <a:p>
            <a:pPr algn="l">
              <a:lnSpc>
                <a:spcPts val="303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461082"/>
            <a:ext cx="4436022" cy="5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4652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DATA SPLIT: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3875" y="5729834"/>
            <a:ext cx="6524467" cy="5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8"/>
              </a:lnSpc>
            </a:pPr>
            <a:r>
              <a:rPr lang="en-US" sz="4652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HANDLING IMBALANCE: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20936" y="5672251"/>
            <a:ext cx="10171908" cy="156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5"/>
              </a:lnSpc>
            </a:pPr>
            <a:r>
              <a:rPr lang="en-US" sz="2955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S</a:t>
            </a:r>
            <a:r>
              <a:rPr lang="en-US" sz="2955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leep stages are highly imbalanced (espec</a:t>
            </a:r>
            <a:r>
              <a:rPr lang="en-US" sz="2955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ially N1 and N3)</a:t>
            </a:r>
          </a:p>
          <a:p>
            <a:pPr algn="l">
              <a:lnSpc>
                <a:spcPts val="2955"/>
              </a:lnSpc>
            </a:pPr>
            <a:r>
              <a:rPr lang="en-US" sz="2955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Techniques Applied: SMOTE + Class Weights</a:t>
            </a:r>
          </a:p>
          <a:p>
            <a:pPr algn="l">
              <a:lnSpc>
                <a:spcPts val="2955"/>
              </a:lnSpc>
            </a:pPr>
            <a:r>
              <a:rPr lang="en-US" sz="2955">
                <a:solidFill>
                  <a:srgbClr val="3A3D81"/>
                </a:solidFill>
                <a:latin typeface="Jet"/>
                <a:ea typeface="Jet"/>
                <a:cs typeface="Jet"/>
                <a:sym typeface="Jet"/>
              </a:rPr>
              <a:t>This improves model performance on minority classes</a:t>
            </a:r>
          </a:p>
          <a:p>
            <a:pPr algn="l">
              <a:lnSpc>
                <a:spcPts val="2955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751800"/>
            <a:ext cx="14112752" cy="780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8"/>
              </a:lnSpc>
            </a:pPr>
            <a:r>
              <a:rPr lang="en-US" sz="3723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-Hybrid Model</a:t>
            </a:r>
            <a:r>
              <a:rPr lang="en-US" sz="3723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(CNN + LSTM + Attention)</a:t>
            </a:r>
          </a:p>
          <a:p>
            <a:pPr algn="l">
              <a:lnSpc>
                <a:spcPts val="4728"/>
              </a:lnSpc>
            </a:pPr>
            <a:r>
              <a:rPr lang="en-US" b="true" sz="3723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  <a:r>
              <a:rPr lang="en-US" b="true" sz="3723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 Single</a:t>
            </a: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EOG Signal (30 seconds)</a:t>
            </a:r>
          </a:p>
          <a:p>
            <a:pPr algn="l">
              <a:lnSpc>
                <a:spcPts val="4728"/>
              </a:lnSpc>
            </a:pPr>
            <a:r>
              <a:rPr lang="en-US" sz="3723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-Model Structure:</a:t>
            </a:r>
          </a:p>
          <a:p>
            <a:pPr algn="l" marL="803843" indent="-401921" lvl="1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Residual CNN E</a:t>
            </a: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xtracts important features from the signal</a:t>
            </a:r>
          </a:p>
          <a:p>
            <a:pPr algn="l" marL="803843" indent="-401921" lvl="1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Bidirectional LSTM Understands the sequence and timing of sleep patterns</a:t>
            </a:r>
          </a:p>
          <a:p>
            <a:pPr algn="l" marL="803843" indent="-401921" lvl="1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Attention Mechanism Focuses on the most relevant parts of the signal</a:t>
            </a:r>
          </a:p>
          <a:p>
            <a:pPr algn="l" marL="803843" indent="-401921" lvl="1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Classification Layer Predicts one of 5</a:t>
            </a: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sleep stages: </a:t>
            </a:r>
          </a:p>
          <a:p>
            <a:pPr algn="l">
              <a:lnSpc>
                <a:spcPts val="4728"/>
              </a:lnSpc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        </a:t>
            </a: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Wake | N1 | N2 | N3 | REM</a:t>
            </a:r>
          </a:p>
          <a:p>
            <a:pPr algn="l">
              <a:lnSpc>
                <a:spcPts val="4728"/>
              </a:lnSpc>
            </a:pPr>
            <a:r>
              <a:rPr lang="en-US" sz="3723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</a:t>
            </a: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High accuracy with a lightweight model suitable for wearable devices</a:t>
            </a:r>
          </a:p>
          <a:p>
            <a:pPr algn="l">
              <a:lnSpc>
                <a:spcPts val="472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332" y="701418"/>
            <a:ext cx="17411668" cy="108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MODEL </a:t>
            </a: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283987" y="2401714"/>
            <a:ext cx="13720026" cy="6433957"/>
          </a:xfrm>
          <a:custGeom>
            <a:avLst/>
            <a:gdLst/>
            <a:ahLst/>
            <a:cxnLst/>
            <a:rect r="r" b="b" t="t" l="l"/>
            <a:pathLst>
              <a:path h="6433957" w="13720026">
                <a:moveTo>
                  <a:pt x="0" y="0"/>
                </a:moveTo>
                <a:lnTo>
                  <a:pt x="13720026" y="0"/>
                </a:lnTo>
                <a:lnTo>
                  <a:pt x="13720026" y="6433956"/>
                </a:lnTo>
                <a:lnTo>
                  <a:pt x="0" y="6433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731" r="0" b="-1743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80411" y="9026170"/>
            <a:ext cx="1078889" cy="65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332" y="701418"/>
            <a:ext cx="17411668" cy="108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MODEL </a:t>
            </a: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8829" y="2477661"/>
            <a:ext cx="15615801" cy="221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0"/>
              </a:lnSpc>
            </a:pPr>
            <a:r>
              <a:rPr lang="en-US" sz="3271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We d</a:t>
            </a:r>
            <a:r>
              <a:rPr lang="en-US" sz="3271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eveloped </a:t>
            </a:r>
            <a:r>
              <a:rPr lang="en-US" sz="3271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 versions </a:t>
            </a:r>
            <a:r>
              <a:rPr lang="en-US" sz="3271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of the project to improve performance step by step:</a:t>
            </a:r>
          </a:p>
          <a:p>
            <a:pPr algn="l">
              <a:lnSpc>
                <a:spcPts val="4580"/>
              </a:lnSpc>
            </a:pPr>
          </a:p>
          <a:p>
            <a:pPr algn="l">
              <a:lnSpc>
                <a:spcPts val="4580"/>
              </a:lnSpc>
            </a:pPr>
          </a:p>
          <a:p>
            <a:pPr algn="l">
              <a:lnSpc>
                <a:spcPts val="3271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82268" y="467318"/>
            <a:ext cx="16677032" cy="2884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8"/>
              </a:lnSpc>
            </a:pPr>
            <a:r>
              <a:rPr lang="en-US" sz="87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MODEL EVOLUTION ACROSS NOTEBOOKS</a:t>
            </a:r>
          </a:p>
          <a:p>
            <a:pPr algn="ctr">
              <a:lnSpc>
                <a:spcPts val="7328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177410" y="-1214117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32185" y="7677423"/>
            <a:ext cx="3758453" cy="3758453"/>
          </a:xfrm>
          <a:custGeom>
            <a:avLst/>
            <a:gdLst/>
            <a:ahLst/>
            <a:cxnLst/>
            <a:rect r="r" b="b" t="t" l="l"/>
            <a:pathLst>
              <a:path h="3758453" w="3758453">
                <a:moveTo>
                  <a:pt x="0" y="0"/>
                </a:moveTo>
                <a:lnTo>
                  <a:pt x="3758453" y="0"/>
                </a:lnTo>
                <a:lnTo>
                  <a:pt x="3758453" y="3758453"/>
                </a:lnTo>
                <a:lnTo>
                  <a:pt x="0" y="375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46708" y="8907715"/>
            <a:ext cx="3131075" cy="1810331"/>
          </a:xfrm>
          <a:custGeom>
            <a:avLst/>
            <a:gdLst/>
            <a:ahLst/>
            <a:cxnLst/>
            <a:rect r="r" b="b" t="t" l="l"/>
            <a:pathLst>
              <a:path h="1810331" w="3131075">
                <a:moveTo>
                  <a:pt x="0" y="0"/>
                </a:moveTo>
                <a:lnTo>
                  <a:pt x="3131075" y="0"/>
                </a:lnTo>
                <a:lnTo>
                  <a:pt x="3131075" y="1810331"/>
                </a:lnTo>
                <a:lnTo>
                  <a:pt x="0" y="1810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8" id="8"/>
          <p:cNvGraphicFramePr/>
          <p:nvPr/>
        </p:nvGraphicFramePr>
        <p:xfrm>
          <a:off x="1847206" y="3585202"/>
          <a:ext cx="11315700" cy="3143250"/>
        </p:xfrm>
        <a:graphic>
          <a:graphicData uri="http://schemas.openxmlformats.org/presentationml/2006/ole">
            <p:oleObj imgW="13576300" imgH="5410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89182" y="673081"/>
            <a:ext cx="17411668" cy="3050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</a:t>
            </a: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ING PROCESS &amp; RESULTS</a:t>
            </a:r>
          </a:p>
          <a:p>
            <a:pPr algn="ctr">
              <a:lnSpc>
                <a:spcPts val="7748"/>
              </a:lnSpc>
            </a:pPr>
          </a:p>
          <a:p>
            <a:pPr algn="ctr">
              <a:lnSpc>
                <a:spcPts val="774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95485" y="2121575"/>
            <a:ext cx="14112752" cy="6005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8"/>
              </a:lnSpc>
            </a:pPr>
            <a:r>
              <a:rPr lang="en-US" sz="3723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  <a:r>
              <a:rPr lang="en-US" b="true" sz="3723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Parameters:</a:t>
            </a:r>
          </a:p>
          <a:p>
            <a:pPr algn="l" marL="803843" indent="-401921" lvl="1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Epochs: 50</a:t>
            </a:r>
          </a:p>
          <a:p>
            <a:pPr algn="l" marL="803843" indent="-401921" lvl="1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Batch Size: 32</a:t>
            </a:r>
          </a:p>
          <a:p>
            <a:pPr algn="l">
              <a:lnSpc>
                <a:spcPts val="4728"/>
              </a:lnSpc>
            </a:pPr>
          </a:p>
          <a:p>
            <a:pPr algn="l">
              <a:lnSpc>
                <a:spcPts val="4728"/>
              </a:lnSpc>
            </a:pPr>
            <a:r>
              <a:rPr lang="en-US" sz="3723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</a:t>
            </a:r>
            <a:r>
              <a:rPr lang="en-US" sz="3723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Observations During Training:</a:t>
            </a:r>
          </a:p>
          <a:p>
            <a:pPr algn="l" marL="803843" indent="-401921" lvl="1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Training Accuracy reached </a:t>
            </a:r>
            <a:r>
              <a:rPr lang="en-US" b="true" sz="3723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99.5%</a:t>
            </a: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 by the final epoch</a:t>
            </a:r>
          </a:p>
          <a:p>
            <a:pPr algn="l" marL="803843" indent="-401921" lvl="1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Best Validation Accuracy: </a:t>
            </a:r>
            <a:r>
              <a:rPr lang="en-US" b="true" sz="3723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~83.2% </a:t>
            </a:r>
          </a:p>
          <a:p>
            <a:pPr algn="l" marL="803843" indent="-401921" lvl="1">
              <a:lnSpc>
                <a:spcPts val="4728"/>
              </a:lnSpc>
              <a:buFont typeface="Arial"/>
              <a:buChar char="•"/>
            </a:pPr>
            <a:r>
              <a:rPr lang="en-US" sz="3723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Model shows good convergence with stable training</a:t>
            </a:r>
          </a:p>
          <a:p>
            <a:pPr algn="l">
              <a:lnSpc>
                <a:spcPts val="4728"/>
              </a:lnSpc>
            </a:pPr>
          </a:p>
          <a:p>
            <a:pPr algn="l">
              <a:lnSpc>
                <a:spcPts val="472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17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93986">
            <a:off x="15721988" y="6065391"/>
            <a:ext cx="1581124" cy="1394264"/>
          </a:xfrm>
          <a:custGeom>
            <a:avLst/>
            <a:gdLst/>
            <a:ahLst/>
            <a:cxnLst/>
            <a:rect r="r" b="b" t="t" l="l"/>
            <a:pathLst>
              <a:path h="1394264" w="1581124">
                <a:moveTo>
                  <a:pt x="0" y="0"/>
                </a:moveTo>
                <a:lnTo>
                  <a:pt x="1581124" y="0"/>
                </a:lnTo>
                <a:lnTo>
                  <a:pt x="1581124" y="1394264"/>
                </a:lnTo>
                <a:lnTo>
                  <a:pt x="0" y="1394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593986">
            <a:off x="15721988" y="6065391"/>
            <a:ext cx="1581124" cy="1394264"/>
          </a:xfrm>
          <a:custGeom>
            <a:avLst/>
            <a:gdLst/>
            <a:ahLst/>
            <a:cxnLst/>
            <a:rect r="r" b="b" t="t" l="l"/>
            <a:pathLst>
              <a:path h="1394264" w="1581124">
                <a:moveTo>
                  <a:pt x="0" y="0"/>
                </a:moveTo>
                <a:lnTo>
                  <a:pt x="1581124" y="0"/>
                </a:lnTo>
                <a:lnTo>
                  <a:pt x="1581124" y="1394264"/>
                </a:lnTo>
                <a:lnTo>
                  <a:pt x="0" y="1394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23743" y="2536622"/>
            <a:ext cx="11301259" cy="861721"/>
          </a:xfrm>
          <a:custGeom>
            <a:avLst/>
            <a:gdLst/>
            <a:ahLst/>
            <a:cxnLst/>
            <a:rect r="r" b="b" t="t" l="l"/>
            <a:pathLst>
              <a:path h="861721" w="11301259">
                <a:moveTo>
                  <a:pt x="0" y="0"/>
                </a:moveTo>
                <a:lnTo>
                  <a:pt x="11301259" y="0"/>
                </a:lnTo>
                <a:lnTo>
                  <a:pt x="11301259" y="861721"/>
                </a:lnTo>
                <a:lnTo>
                  <a:pt x="0" y="8617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35689" y="4375768"/>
            <a:ext cx="11301259" cy="1115999"/>
          </a:xfrm>
          <a:custGeom>
            <a:avLst/>
            <a:gdLst/>
            <a:ahLst/>
            <a:cxnLst/>
            <a:rect r="r" b="b" t="t" l="l"/>
            <a:pathLst>
              <a:path h="1115999" w="11301259">
                <a:moveTo>
                  <a:pt x="0" y="0"/>
                </a:moveTo>
                <a:lnTo>
                  <a:pt x="11301259" y="0"/>
                </a:lnTo>
                <a:lnTo>
                  <a:pt x="11301259" y="1116000"/>
                </a:lnTo>
                <a:lnTo>
                  <a:pt x="0" y="1116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35689" y="6469193"/>
            <a:ext cx="11301259" cy="1115999"/>
          </a:xfrm>
          <a:custGeom>
            <a:avLst/>
            <a:gdLst/>
            <a:ahLst/>
            <a:cxnLst/>
            <a:rect r="r" b="b" t="t" l="l"/>
            <a:pathLst>
              <a:path h="1115999" w="11301259">
                <a:moveTo>
                  <a:pt x="0" y="0"/>
                </a:moveTo>
                <a:lnTo>
                  <a:pt x="11301259" y="0"/>
                </a:lnTo>
                <a:lnTo>
                  <a:pt x="11301259" y="1115999"/>
                </a:lnTo>
                <a:lnTo>
                  <a:pt x="0" y="11159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23743" y="8302729"/>
            <a:ext cx="11301259" cy="974734"/>
          </a:xfrm>
          <a:custGeom>
            <a:avLst/>
            <a:gdLst/>
            <a:ahLst/>
            <a:cxnLst/>
            <a:rect r="r" b="b" t="t" l="l"/>
            <a:pathLst>
              <a:path h="974734" w="11301259">
                <a:moveTo>
                  <a:pt x="0" y="0"/>
                </a:moveTo>
                <a:lnTo>
                  <a:pt x="11301259" y="0"/>
                </a:lnTo>
                <a:lnTo>
                  <a:pt x="11301259" y="974733"/>
                </a:lnTo>
                <a:lnTo>
                  <a:pt x="0" y="9747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9182" y="673081"/>
            <a:ext cx="17411668" cy="108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</a:t>
            </a: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ING 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33465"/>
            <a:ext cx="5509528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ST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GNALS_EOG1”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3944" y="3573110"/>
            <a:ext cx="5876383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2ND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GNALS_EOG2”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3355" y="5663218"/>
            <a:ext cx="5854691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GNALS_EOG3”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8972" y="7628356"/>
            <a:ext cx="5966328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GNALS_EOG4”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09866" y="2942877"/>
            <a:ext cx="15468269" cy="5993954"/>
          </a:xfrm>
          <a:custGeom>
            <a:avLst/>
            <a:gdLst/>
            <a:ahLst/>
            <a:cxnLst/>
            <a:rect r="r" b="b" t="t" l="l"/>
            <a:pathLst>
              <a:path h="5993954" w="15468269">
                <a:moveTo>
                  <a:pt x="0" y="0"/>
                </a:moveTo>
                <a:lnTo>
                  <a:pt x="15468268" y="0"/>
                </a:lnTo>
                <a:lnTo>
                  <a:pt x="15468268" y="5993954"/>
                </a:lnTo>
                <a:lnTo>
                  <a:pt x="0" y="5993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566" y="988926"/>
            <a:ext cx="17046868" cy="1034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</a:t>
            </a: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ING &amp; VALIDATION CURVES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833465"/>
            <a:ext cx="5509528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ST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GNALS_EOG1”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384845" y="3015212"/>
            <a:ext cx="15335011" cy="5846473"/>
          </a:xfrm>
          <a:custGeom>
            <a:avLst/>
            <a:gdLst/>
            <a:ahLst/>
            <a:cxnLst/>
            <a:rect r="r" b="b" t="t" l="l"/>
            <a:pathLst>
              <a:path h="5846473" w="15335011">
                <a:moveTo>
                  <a:pt x="0" y="0"/>
                </a:moveTo>
                <a:lnTo>
                  <a:pt x="15335010" y="0"/>
                </a:lnTo>
                <a:lnTo>
                  <a:pt x="15335010" y="5846473"/>
                </a:lnTo>
                <a:lnTo>
                  <a:pt x="0" y="5846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566" y="988926"/>
            <a:ext cx="17046868" cy="1034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</a:t>
            </a: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ING &amp; VALIDATION CURVES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3944" y="2039663"/>
            <a:ext cx="5876383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2ND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GNALS_EOG2”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93844" y="2886011"/>
            <a:ext cx="16065456" cy="6104873"/>
          </a:xfrm>
          <a:custGeom>
            <a:avLst/>
            <a:gdLst/>
            <a:ahLst/>
            <a:cxnLst/>
            <a:rect r="r" b="b" t="t" l="l"/>
            <a:pathLst>
              <a:path h="6104873" w="16065456">
                <a:moveTo>
                  <a:pt x="0" y="0"/>
                </a:moveTo>
                <a:lnTo>
                  <a:pt x="16065456" y="0"/>
                </a:lnTo>
                <a:lnTo>
                  <a:pt x="16065456" y="6104874"/>
                </a:lnTo>
                <a:lnTo>
                  <a:pt x="0" y="61048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566" y="988926"/>
            <a:ext cx="17046868" cy="1034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</a:t>
            </a: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ING &amp; VALIDATION CURVES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3355" y="2039663"/>
            <a:ext cx="5854691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GNALS_EOG3”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03670" y="2755941"/>
            <a:ext cx="16255630" cy="6079730"/>
          </a:xfrm>
          <a:custGeom>
            <a:avLst/>
            <a:gdLst/>
            <a:ahLst/>
            <a:cxnLst/>
            <a:rect r="r" b="b" t="t" l="l"/>
            <a:pathLst>
              <a:path h="6079730" w="16255630">
                <a:moveTo>
                  <a:pt x="0" y="0"/>
                </a:moveTo>
                <a:lnTo>
                  <a:pt x="16255630" y="0"/>
                </a:lnTo>
                <a:lnTo>
                  <a:pt x="16255630" y="6079729"/>
                </a:lnTo>
                <a:lnTo>
                  <a:pt x="0" y="6079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26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566" y="988926"/>
            <a:ext cx="17046868" cy="1034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TRAIN</a:t>
            </a:r>
            <a:r>
              <a:rPr lang="en-US" sz="8803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ING &amp; VALIDATION CURVES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8737" y="1974560"/>
            <a:ext cx="5966328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GNALS_EOG4”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593986">
            <a:off x="15721988" y="6065391"/>
            <a:ext cx="1581124" cy="1394264"/>
          </a:xfrm>
          <a:custGeom>
            <a:avLst/>
            <a:gdLst/>
            <a:ahLst/>
            <a:cxnLst/>
            <a:rect r="r" b="b" t="t" l="l"/>
            <a:pathLst>
              <a:path h="1394264" w="1581124">
                <a:moveTo>
                  <a:pt x="0" y="0"/>
                </a:moveTo>
                <a:lnTo>
                  <a:pt x="1581124" y="0"/>
                </a:lnTo>
                <a:lnTo>
                  <a:pt x="1581124" y="1394264"/>
                </a:lnTo>
                <a:lnTo>
                  <a:pt x="0" y="1394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15306" y="2556924"/>
            <a:ext cx="10772423" cy="923936"/>
          </a:xfrm>
          <a:custGeom>
            <a:avLst/>
            <a:gdLst/>
            <a:ahLst/>
            <a:cxnLst/>
            <a:rect r="r" b="b" t="t" l="l"/>
            <a:pathLst>
              <a:path h="923936" w="10772423">
                <a:moveTo>
                  <a:pt x="0" y="0"/>
                </a:moveTo>
                <a:lnTo>
                  <a:pt x="10772422" y="0"/>
                </a:lnTo>
                <a:lnTo>
                  <a:pt x="10772422" y="923936"/>
                </a:lnTo>
                <a:lnTo>
                  <a:pt x="0" y="923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786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15306" y="4451564"/>
            <a:ext cx="10772423" cy="905683"/>
          </a:xfrm>
          <a:custGeom>
            <a:avLst/>
            <a:gdLst/>
            <a:ahLst/>
            <a:cxnLst/>
            <a:rect r="r" b="b" t="t" l="l"/>
            <a:pathLst>
              <a:path h="905683" w="10772423">
                <a:moveTo>
                  <a:pt x="0" y="0"/>
                </a:moveTo>
                <a:lnTo>
                  <a:pt x="10772422" y="0"/>
                </a:lnTo>
                <a:lnTo>
                  <a:pt x="10772422" y="905683"/>
                </a:lnTo>
                <a:lnTo>
                  <a:pt x="0" y="905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31" r="0" b="-53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942136" y="8444977"/>
            <a:ext cx="10945593" cy="781386"/>
          </a:xfrm>
          <a:custGeom>
            <a:avLst/>
            <a:gdLst/>
            <a:ahLst/>
            <a:cxnLst/>
            <a:rect r="r" b="b" t="t" l="l"/>
            <a:pathLst>
              <a:path h="781386" w="10945593">
                <a:moveTo>
                  <a:pt x="0" y="0"/>
                </a:moveTo>
                <a:lnTo>
                  <a:pt x="10945592" y="0"/>
                </a:lnTo>
                <a:lnTo>
                  <a:pt x="10945592" y="781386"/>
                </a:lnTo>
                <a:lnTo>
                  <a:pt x="0" y="7813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03" r="0" b="-40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15306" y="6490398"/>
            <a:ext cx="10772423" cy="883261"/>
          </a:xfrm>
          <a:custGeom>
            <a:avLst/>
            <a:gdLst/>
            <a:ahLst/>
            <a:cxnLst/>
            <a:rect r="r" b="b" t="t" l="l"/>
            <a:pathLst>
              <a:path h="883261" w="10772423">
                <a:moveTo>
                  <a:pt x="0" y="0"/>
                </a:moveTo>
                <a:lnTo>
                  <a:pt x="10772422" y="0"/>
                </a:lnTo>
                <a:lnTo>
                  <a:pt x="10772422" y="883262"/>
                </a:lnTo>
                <a:lnTo>
                  <a:pt x="0" y="8832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850" r="0" b="-185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9182" y="673081"/>
            <a:ext cx="17411668" cy="108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8"/>
              </a:lnSpc>
            </a:pP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EVALUATION</a:t>
            </a:r>
            <a:r>
              <a:rPr lang="en-US" sz="9224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&amp;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33465"/>
            <a:ext cx="5509528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ST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GNALS_EOG1”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3944" y="3573110"/>
            <a:ext cx="5876383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2ND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GNALS_EOG2”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3944" y="5604493"/>
            <a:ext cx="5854691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GNALS_EOG3”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8972" y="7628356"/>
            <a:ext cx="5966328" cy="5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  <a:spcBef>
                <a:spcPct val="0"/>
              </a:spcBef>
            </a:pP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“SI</a:t>
            </a:r>
            <a:r>
              <a:rPr lang="en-US" sz="32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GNALS_EOG4”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85627" y="2237785"/>
            <a:ext cx="11116746" cy="549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79"/>
              </a:lnSpc>
              <a:spcBef>
                <a:spcPct val="0"/>
              </a:spcBef>
            </a:pPr>
            <a:r>
              <a:rPr lang="en-US" sz="15699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CONFUSION MATRICES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615962" y="487224"/>
            <a:ext cx="6036675" cy="4806777"/>
          </a:xfrm>
          <a:custGeom>
            <a:avLst/>
            <a:gdLst/>
            <a:ahLst/>
            <a:cxnLst/>
            <a:rect r="r" b="b" t="t" l="l"/>
            <a:pathLst>
              <a:path h="4806777" w="6036675">
                <a:moveTo>
                  <a:pt x="0" y="0"/>
                </a:moveTo>
                <a:lnTo>
                  <a:pt x="6036675" y="0"/>
                </a:lnTo>
                <a:lnTo>
                  <a:pt x="6036675" y="4806777"/>
                </a:lnTo>
                <a:lnTo>
                  <a:pt x="0" y="4806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830" b="-137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46252" y="553359"/>
            <a:ext cx="6041339" cy="4740643"/>
          </a:xfrm>
          <a:custGeom>
            <a:avLst/>
            <a:gdLst/>
            <a:ahLst/>
            <a:cxnLst/>
            <a:rect r="r" b="b" t="t" l="l"/>
            <a:pathLst>
              <a:path h="4740643" w="6041339">
                <a:moveTo>
                  <a:pt x="0" y="0"/>
                </a:moveTo>
                <a:lnTo>
                  <a:pt x="6041339" y="0"/>
                </a:lnTo>
                <a:lnTo>
                  <a:pt x="6041339" y="4740642"/>
                </a:lnTo>
                <a:lnTo>
                  <a:pt x="0" y="47406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15" r="0" b="-81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15962" y="5466565"/>
            <a:ext cx="6036675" cy="4619564"/>
          </a:xfrm>
          <a:custGeom>
            <a:avLst/>
            <a:gdLst/>
            <a:ahLst/>
            <a:cxnLst/>
            <a:rect r="r" b="b" t="t" l="l"/>
            <a:pathLst>
              <a:path h="4619564" w="6036675">
                <a:moveTo>
                  <a:pt x="0" y="0"/>
                </a:moveTo>
                <a:lnTo>
                  <a:pt x="6036675" y="0"/>
                </a:lnTo>
                <a:lnTo>
                  <a:pt x="6036675" y="4619564"/>
                </a:lnTo>
                <a:lnTo>
                  <a:pt x="0" y="4619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32" r="0" b="-333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68785" y="5466565"/>
            <a:ext cx="6018806" cy="4619564"/>
          </a:xfrm>
          <a:custGeom>
            <a:avLst/>
            <a:gdLst/>
            <a:ahLst/>
            <a:cxnLst/>
            <a:rect r="r" b="b" t="t" l="l"/>
            <a:pathLst>
              <a:path h="4619564" w="6018806">
                <a:moveTo>
                  <a:pt x="0" y="0"/>
                </a:moveTo>
                <a:lnTo>
                  <a:pt x="6018806" y="0"/>
                </a:lnTo>
                <a:lnTo>
                  <a:pt x="6018806" y="4619564"/>
                </a:lnTo>
                <a:lnTo>
                  <a:pt x="0" y="46195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736" r="0" b="-273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2674" y="486684"/>
            <a:ext cx="1782165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ST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VERSION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72770" y="617451"/>
            <a:ext cx="1866452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ND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VERSION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6912" y="5399890"/>
            <a:ext cx="2013689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91454" y="5399890"/>
            <a:ext cx="2078525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87405" y="2237785"/>
            <a:ext cx="14313191" cy="549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79"/>
              </a:lnSpc>
              <a:spcBef>
                <a:spcPct val="0"/>
              </a:spcBef>
            </a:pPr>
            <a:r>
              <a:rPr lang="en-US" sz="15699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CLASSFICATION REPORTS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95964" y="945101"/>
            <a:ext cx="7175469" cy="4037410"/>
          </a:xfrm>
          <a:custGeom>
            <a:avLst/>
            <a:gdLst/>
            <a:ahLst/>
            <a:cxnLst/>
            <a:rect r="r" b="b" t="t" l="l"/>
            <a:pathLst>
              <a:path h="4037410" w="7175469">
                <a:moveTo>
                  <a:pt x="0" y="0"/>
                </a:moveTo>
                <a:lnTo>
                  <a:pt x="7175469" y="0"/>
                </a:lnTo>
                <a:lnTo>
                  <a:pt x="7175469" y="4037410"/>
                </a:lnTo>
                <a:lnTo>
                  <a:pt x="0" y="4037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477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43212" y="1028700"/>
            <a:ext cx="7244015" cy="3980945"/>
          </a:xfrm>
          <a:custGeom>
            <a:avLst/>
            <a:gdLst/>
            <a:ahLst/>
            <a:cxnLst/>
            <a:rect r="r" b="b" t="t" l="l"/>
            <a:pathLst>
              <a:path h="3980945" w="7244015">
                <a:moveTo>
                  <a:pt x="0" y="0"/>
                </a:moveTo>
                <a:lnTo>
                  <a:pt x="7244015" y="0"/>
                </a:lnTo>
                <a:lnTo>
                  <a:pt x="7244015" y="3980945"/>
                </a:lnTo>
                <a:lnTo>
                  <a:pt x="0" y="39809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7582" y="5738362"/>
            <a:ext cx="7383851" cy="3839993"/>
          </a:xfrm>
          <a:custGeom>
            <a:avLst/>
            <a:gdLst/>
            <a:ahLst/>
            <a:cxnLst/>
            <a:rect r="r" b="b" t="t" l="l"/>
            <a:pathLst>
              <a:path h="3839993" w="7383851">
                <a:moveTo>
                  <a:pt x="0" y="0"/>
                </a:moveTo>
                <a:lnTo>
                  <a:pt x="7383851" y="0"/>
                </a:lnTo>
                <a:lnTo>
                  <a:pt x="7383851" y="3839993"/>
                </a:lnTo>
                <a:lnTo>
                  <a:pt x="0" y="38399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35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74153" y="5738362"/>
            <a:ext cx="7182133" cy="3746028"/>
          </a:xfrm>
          <a:custGeom>
            <a:avLst/>
            <a:gdLst/>
            <a:ahLst/>
            <a:cxnLst/>
            <a:rect r="r" b="b" t="t" l="l"/>
            <a:pathLst>
              <a:path h="3746028" w="7182133">
                <a:moveTo>
                  <a:pt x="0" y="0"/>
                </a:moveTo>
                <a:lnTo>
                  <a:pt x="7182133" y="0"/>
                </a:lnTo>
                <a:lnTo>
                  <a:pt x="7182133" y="3746028"/>
                </a:lnTo>
                <a:lnTo>
                  <a:pt x="0" y="37460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2674" y="486684"/>
            <a:ext cx="1782165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ST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VERSION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72770" y="617451"/>
            <a:ext cx="1866452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ND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VERSION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8448" y="5227326"/>
            <a:ext cx="2013689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72770" y="5279945"/>
            <a:ext cx="2078525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85627" y="3633174"/>
            <a:ext cx="11116746" cy="270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79"/>
              </a:lnSpc>
              <a:spcBef>
                <a:spcPct val="0"/>
              </a:spcBef>
            </a:pPr>
            <a:r>
              <a:rPr lang="en-US" sz="15699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ROC CURVES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92187">
            <a:off x="16450498" y="991884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8" y="0"/>
                </a:lnTo>
                <a:lnTo>
                  <a:pt x="2306578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615962" y="684126"/>
            <a:ext cx="6322785" cy="4403905"/>
          </a:xfrm>
          <a:custGeom>
            <a:avLst/>
            <a:gdLst/>
            <a:ahLst/>
            <a:cxnLst/>
            <a:rect r="r" b="b" t="t" l="l"/>
            <a:pathLst>
              <a:path h="4403905" w="6322785">
                <a:moveTo>
                  <a:pt x="0" y="0"/>
                </a:moveTo>
                <a:lnTo>
                  <a:pt x="6322785" y="0"/>
                </a:lnTo>
                <a:lnTo>
                  <a:pt x="6322785" y="4403906"/>
                </a:lnTo>
                <a:lnTo>
                  <a:pt x="0" y="4403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19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76258" y="727751"/>
            <a:ext cx="6195780" cy="4360280"/>
          </a:xfrm>
          <a:custGeom>
            <a:avLst/>
            <a:gdLst/>
            <a:ahLst/>
            <a:cxnLst/>
            <a:rect r="r" b="b" t="t" l="l"/>
            <a:pathLst>
              <a:path h="4360280" w="6195780">
                <a:moveTo>
                  <a:pt x="0" y="0"/>
                </a:moveTo>
                <a:lnTo>
                  <a:pt x="6195780" y="0"/>
                </a:lnTo>
                <a:lnTo>
                  <a:pt x="6195780" y="4360281"/>
                </a:lnTo>
                <a:lnTo>
                  <a:pt x="0" y="43602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15962" y="5489872"/>
            <a:ext cx="6322785" cy="4360280"/>
          </a:xfrm>
          <a:custGeom>
            <a:avLst/>
            <a:gdLst/>
            <a:ahLst/>
            <a:cxnLst/>
            <a:rect r="r" b="b" t="t" l="l"/>
            <a:pathLst>
              <a:path h="4360280" w="6322785">
                <a:moveTo>
                  <a:pt x="0" y="0"/>
                </a:moveTo>
                <a:lnTo>
                  <a:pt x="6322785" y="0"/>
                </a:lnTo>
                <a:lnTo>
                  <a:pt x="6322785" y="4360280"/>
                </a:lnTo>
                <a:lnTo>
                  <a:pt x="0" y="4360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58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43212" y="5466565"/>
            <a:ext cx="6228827" cy="4383587"/>
          </a:xfrm>
          <a:custGeom>
            <a:avLst/>
            <a:gdLst/>
            <a:ahLst/>
            <a:cxnLst/>
            <a:rect r="r" b="b" t="t" l="l"/>
            <a:pathLst>
              <a:path h="4383587" w="6228827">
                <a:moveTo>
                  <a:pt x="0" y="0"/>
                </a:moveTo>
                <a:lnTo>
                  <a:pt x="6228826" y="0"/>
                </a:lnTo>
                <a:lnTo>
                  <a:pt x="6228826" y="4383587"/>
                </a:lnTo>
                <a:lnTo>
                  <a:pt x="0" y="43835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53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2674" y="486684"/>
            <a:ext cx="1782165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1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ST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VERSION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72770" y="617451"/>
            <a:ext cx="1866452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2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ND</a:t>
            </a: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 VERSION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6912" y="5399890"/>
            <a:ext cx="2013689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3RD VERSION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91454" y="5399890"/>
            <a:ext cx="2078525" cy="45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4TH  VERSION 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4516">
            <a:off x="-764107" y="6183780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92187">
            <a:off x="6924851" y="-300121"/>
            <a:ext cx="2306579" cy="2098702"/>
          </a:xfrm>
          <a:custGeom>
            <a:avLst/>
            <a:gdLst/>
            <a:ahLst/>
            <a:cxnLst/>
            <a:rect r="r" b="b" t="t" l="l"/>
            <a:pathLst>
              <a:path h="2098702" w="2306579">
                <a:moveTo>
                  <a:pt x="0" y="0"/>
                </a:moveTo>
                <a:lnTo>
                  <a:pt x="2306579" y="0"/>
                </a:lnTo>
                <a:lnTo>
                  <a:pt x="2306579" y="2098702"/>
                </a:lnTo>
                <a:lnTo>
                  <a:pt x="0" y="2098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9277462"/>
            <a:ext cx="14907420" cy="0"/>
          </a:xfrm>
          <a:prstGeom prst="line">
            <a:avLst/>
          </a:prstGeom>
          <a:ln cap="flat" w="9525">
            <a:solidFill>
              <a:srgbClr val="ACB5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6180411" y="9026170"/>
            <a:ext cx="1078889" cy="65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557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30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01969" y="460105"/>
            <a:ext cx="9084061" cy="78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25"/>
              </a:lnSpc>
            </a:pPr>
            <a:r>
              <a:rPr lang="en-US" sz="6578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RELATED PAPER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7021" y="1032784"/>
            <a:ext cx="15796293" cy="878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937" u="sng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Paper:</a:t>
            </a:r>
          </a:p>
          <a:p>
            <a:pPr algn="l">
              <a:lnSpc>
                <a:spcPts val="3819"/>
              </a:lnSpc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U-Sleep: Resilient High-Frequency Sleep Staging</a:t>
            </a:r>
          </a:p>
          <a:p>
            <a:pPr algn="l">
              <a:lnSpc>
                <a:spcPts val="3819"/>
              </a:lnSpc>
            </a:pPr>
            <a:r>
              <a:rPr lang="en-US" sz="2937" u="sng" b="true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l">
              <a:lnSpc>
                <a:spcPts val="3819"/>
              </a:lnSpc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Develop a robust deep learning model f</a:t>
            </a: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or automatic sleep stage classification that works with limited channels (EEG + EOG) across different datasets and clinical settings.</a:t>
            </a:r>
          </a:p>
          <a:p>
            <a:pPr algn="l">
              <a:lnSpc>
                <a:spcPts val="3819"/>
              </a:lnSpc>
            </a:pPr>
            <a:r>
              <a:rPr lang="en-US" b="true" sz="2937" u="sng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Methodology:</a:t>
            </a:r>
          </a:p>
          <a:p>
            <a:pPr algn="l" marL="634260" indent="-317130" lvl="1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Uses single EEG + single EOG channels</a:t>
            </a:r>
          </a:p>
          <a:p>
            <a:pPr algn="l" marL="634260" indent="-317130" lvl="1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Fully Convolutional Neural Network (U-Net inspired architecture)</a:t>
            </a:r>
          </a:p>
          <a:p>
            <a:pPr algn="l" marL="634260" indent="-317130" lvl="1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Trained on large-scale PSG data including MESA dataset</a:t>
            </a:r>
          </a:p>
          <a:p>
            <a:pPr algn="l" marL="634260" indent="-317130" lvl="1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Works with different sampling rates and electrode placements</a:t>
            </a:r>
          </a:p>
          <a:p>
            <a:pPr algn="l" marL="634260" indent="-317130" lvl="1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Classify sleep into five stages: Wake, N1, N2, N3, REM</a:t>
            </a:r>
          </a:p>
          <a:p>
            <a:pPr algn="l">
              <a:lnSpc>
                <a:spcPts val="3819"/>
              </a:lnSpc>
            </a:pPr>
            <a:r>
              <a:rPr lang="en-US" b="true" sz="2937" u="sng">
                <a:solidFill>
                  <a:srgbClr val="3A3D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Results:</a:t>
            </a:r>
          </a:p>
          <a:p>
            <a:pPr algn="l" marL="634260" indent="-317130" lvl="1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Hig</a:t>
            </a: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h performance on MESA and multiple other datasets</a:t>
            </a:r>
          </a:p>
          <a:p>
            <a:pPr algn="l" marL="634260" indent="-317130" lvl="1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Mean F1 score around 0.79 across stages (comparable to human experts)</a:t>
            </a:r>
          </a:p>
          <a:p>
            <a:pPr algn="l" marL="634260" indent="-317130" lvl="1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Strong results with limited channels (EEG + EOG)</a:t>
            </a:r>
          </a:p>
          <a:p>
            <a:pPr algn="l" marL="634260" indent="-317130" lvl="1">
              <a:lnSpc>
                <a:spcPts val="3819"/>
              </a:lnSpc>
              <a:buFont typeface="Arial"/>
              <a:buChar char="•"/>
            </a:pPr>
            <a:r>
              <a:rPr lang="en-US" sz="2937">
                <a:solidFill>
                  <a:srgbClr val="3A3D81"/>
                </a:solidFill>
                <a:latin typeface="Canva Sans"/>
                <a:ea typeface="Canva Sans"/>
                <a:cs typeface="Canva Sans"/>
                <a:sym typeface="Canva Sans"/>
              </a:rPr>
              <a:t>Very resilient and generalizable to new clinical data</a:t>
            </a:r>
          </a:p>
          <a:p>
            <a:pPr algn="l">
              <a:lnSpc>
                <a:spcPts val="2937"/>
              </a:lnSpc>
            </a:pPr>
          </a:p>
          <a:p>
            <a:pPr algn="l">
              <a:lnSpc>
                <a:spcPts val="2937"/>
              </a:lnSpc>
            </a:pPr>
          </a:p>
          <a:p>
            <a:pPr algn="l">
              <a:lnSpc>
                <a:spcPts val="2937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346342" y="4781601"/>
            <a:ext cx="762956" cy="762956"/>
          </a:xfrm>
          <a:custGeom>
            <a:avLst/>
            <a:gdLst/>
            <a:ahLst/>
            <a:cxnLst/>
            <a:rect r="r" b="b" t="t" l="l"/>
            <a:pathLst>
              <a:path h="762956" w="762956">
                <a:moveTo>
                  <a:pt x="0" y="0"/>
                </a:moveTo>
                <a:lnTo>
                  <a:pt x="762956" y="0"/>
                </a:lnTo>
                <a:lnTo>
                  <a:pt x="762956" y="762955"/>
                </a:lnTo>
                <a:lnTo>
                  <a:pt x="0" y="762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47328" y="3092357"/>
            <a:ext cx="611972" cy="611972"/>
          </a:xfrm>
          <a:custGeom>
            <a:avLst/>
            <a:gdLst/>
            <a:ahLst/>
            <a:cxnLst/>
            <a:rect r="r" b="b" t="t" l="l"/>
            <a:pathLst>
              <a:path h="611972" w="611972">
                <a:moveTo>
                  <a:pt x="0" y="0"/>
                </a:moveTo>
                <a:lnTo>
                  <a:pt x="611972" y="0"/>
                </a:lnTo>
                <a:lnTo>
                  <a:pt x="611972" y="611972"/>
                </a:lnTo>
                <a:lnTo>
                  <a:pt x="0" y="6119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27820" y="8004329"/>
            <a:ext cx="488969" cy="488969"/>
          </a:xfrm>
          <a:custGeom>
            <a:avLst/>
            <a:gdLst/>
            <a:ahLst/>
            <a:cxnLst/>
            <a:rect r="r" b="b" t="t" l="l"/>
            <a:pathLst>
              <a:path h="488969" w="488969">
                <a:moveTo>
                  <a:pt x="0" y="0"/>
                </a:moveTo>
                <a:lnTo>
                  <a:pt x="488970" y="0"/>
                </a:lnTo>
                <a:lnTo>
                  <a:pt x="488970" y="488970"/>
                </a:lnTo>
                <a:lnTo>
                  <a:pt x="0" y="4889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93986">
            <a:off x="16468738" y="331568"/>
            <a:ext cx="1581124" cy="1394264"/>
          </a:xfrm>
          <a:custGeom>
            <a:avLst/>
            <a:gdLst/>
            <a:ahLst/>
            <a:cxnLst/>
            <a:rect r="r" b="b" t="t" l="l"/>
            <a:pathLst>
              <a:path h="1394264" w="1581124">
                <a:moveTo>
                  <a:pt x="0" y="0"/>
                </a:moveTo>
                <a:lnTo>
                  <a:pt x="1581124" y="0"/>
                </a:lnTo>
                <a:lnTo>
                  <a:pt x="1581124" y="1394264"/>
                </a:lnTo>
                <a:lnTo>
                  <a:pt x="0" y="13942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999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943" y="3362433"/>
            <a:ext cx="12382114" cy="4200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6"/>
              </a:lnSpc>
            </a:pPr>
            <a:r>
              <a:rPr lang="en-US" sz="1874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THANK</a:t>
            </a:r>
          </a:p>
          <a:p>
            <a:pPr algn="ctr">
              <a:lnSpc>
                <a:spcPts val="15746"/>
              </a:lnSpc>
            </a:pPr>
            <a:r>
              <a:rPr lang="en-US" sz="18745">
                <a:solidFill>
                  <a:srgbClr val="3A3D81"/>
                </a:solidFill>
                <a:latin typeface="Lilita One"/>
                <a:ea typeface="Lilita One"/>
                <a:cs typeface="Lilita One"/>
                <a:sym typeface="Lilita One"/>
              </a:rPr>
              <a:t>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231506"/>
            <a:ext cx="2126257" cy="2320320"/>
          </a:xfrm>
          <a:custGeom>
            <a:avLst/>
            <a:gdLst/>
            <a:ahLst/>
            <a:cxnLst/>
            <a:rect r="r" b="b" t="t" l="l"/>
            <a:pathLst>
              <a:path h="2320320" w="2126257">
                <a:moveTo>
                  <a:pt x="0" y="0"/>
                </a:moveTo>
                <a:lnTo>
                  <a:pt x="2126257" y="0"/>
                </a:lnTo>
                <a:lnTo>
                  <a:pt x="2126257" y="2320320"/>
                </a:lnTo>
                <a:lnTo>
                  <a:pt x="0" y="2320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972457">
            <a:off x="13894399" y="606301"/>
            <a:ext cx="6729803" cy="3891049"/>
          </a:xfrm>
          <a:custGeom>
            <a:avLst/>
            <a:gdLst/>
            <a:ahLst/>
            <a:cxnLst/>
            <a:rect r="r" b="b" t="t" l="l"/>
            <a:pathLst>
              <a:path h="3891049" w="6729803">
                <a:moveTo>
                  <a:pt x="0" y="0"/>
                </a:moveTo>
                <a:lnTo>
                  <a:pt x="6729802" y="0"/>
                </a:lnTo>
                <a:lnTo>
                  <a:pt x="6729802" y="3891050"/>
                </a:lnTo>
                <a:lnTo>
                  <a:pt x="0" y="389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705420">
            <a:off x="-2336201" y="6377726"/>
            <a:ext cx="6729803" cy="3891049"/>
          </a:xfrm>
          <a:custGeom>
            <a:avLst/>
            <a:gdLst/>
            <a:ahLst/>
            <a:cxnLst/>
            <a:rect r="r" b="b" t="t" l="l"/>
            <a:pathLst>
              <a:path h="3891049" w="6729803">
                <a:moveTo>
                  <a:pt x="0" y="0"/>
                </a:moveTo>
                <a:lnTo>
                  <a:pt x="6729802" y="0"/>
                </a:lnTo>
                <a:lnTo>
                  <a:pt x="6729802" y="3891049"/>
                </a:lnTo>
                <a:lnTo>
                  <a:pt x="0" y="389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DAHDXHXjHkI</dc:identifier>
  <dcterms:modified xsi:type="dcterms:W3CDTF">2011-08-01T06:04:30Z</dcterms:modified>
  <cp:revision>1</cp:revision>
  <dc:title>Blue Illustrated Human Respiratory System Group Project Presentation</dc:title>
</cp:coreProperties>
</file>